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Calibri"/>
              </a:defRPr>
            </a:pPr>
            <a:r>
              <a:rPr sz="1300" b="0" i="0" u="none" strike="noStrike">
                <a:solidFill>
                  <a:srgbClr val="000000"/>
                </a:solidFill>
                <a:latin typeface="Calibri"/>
              </a:rPr>
              <a:t>Gender Split (%)</a:t>
            </a:r>
          </a:p>
        </c:rich>
      </c:tx>
      <c:layout/>
      <c:overlay val="0"/>
    </c:title>
    <c:autoTitleDeleted val="0"/>
    <c:plotArea>
      <c:layout/>
      <c:barChart>
        <c:barDir val="col"/>
        <c:grouping val="clustered"/>
        <c:varyColors val="0"/>
        <c:ser>
          <c:idx val="0"/>
          <c:order val="0"/>
          <c:tx>
            <c:strRef>
              <c:f>Sheet1!$B$1</c:f>
              <c:strCache>
                <c:ptCount val="1"/>
                <c:pt idx="0">
                  <c:v>Share</c:v>
                </c:pt>
              </c:strCache>
            </c:strRef>
          </c:tx>
          <c:spPr>
            <a:solidFill>
              <a:srgbClr val="2C3E50"/>
            </a:solidFill>
            <a:effectLst/>
          </c:spPr>
          <c:invertIfNegative val="0"/>
          <c:dLbls>
            <c:numFmt formatCode="0.0&quot;%&quot;"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dPt>
            <c:idx val="0"/>
            <c:invertIfNegative val="0"/>
            <c:bubble3D val="0"/>
            <c:spPr>
              <a:solidFill>
                <a:srgbClr val="2C3E50"/>
              </a:solidFill>
              <a:effectLst/>
            </c:spPr>
          </c:dPt>
          <c:dPt>
            <c:idx val="1"/>
            <c:invertIfNegative val="0"/>
            <c:bubble3D val="0"/>
            <c:spPr>
              <a:solidFill>
                <a:srgbClr val="89A9C4"/>
              </a:solidFill>
              <a:effectLst/>
            </c:spPr>
          </c:dPt>
          <c:cat>
            <c:multiLvlStrRef>
              <c:f>Sheet1!$A$2:$A$3</c:f>
              <c:multiLvlStrCache>
                <c:ptCount val="2"/>
                <c:lvl>
                  <c:pt idx="0">
                    <c:v>Male</c:v>
                  </c:pt>
                  <c:pt idx="1">
                    <c:v>Female</c:v>
                  </c:pt>
                </c:lvl>
              </c:multiLvlStrCache>
            </c:multiLvlStrRef>
          </c:cat>
          <c:val>
            <c:numRef>
              <c:f>Sheet1!$B$2:$B$3</c:f>
              <c:numCache>
                <c:formatCode>General</c:formatCode>
                <c:ptCount val="2"/>
                <c:pt idx="0">
                  <c:v>50.1</c:v>
                </c:pt>
                <c:pt idx="1">
                  <c:v>49.9</c:v>
                </c:pt>
              </c:numCache>
            </c:numRef>
          </c:val>
        </c:ser>
        <c:dLbls>
          <c:numFmt formatCode="0.0&quot;%&quot;"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Calibri"/>
              </a:defRPr>
            </a:pPr>
            <a:r>
              <a:rPr sz="1300" b="0" i="0" u="none" strike="noStrike">
                <a:solidFill>
                  <a:srgbClr val="000000"/>
                </a:solidFill>
                <a:latin typeface="Calibri"/>
              </a:rPr>
              <a:t>Final Price Distribution (₹)</a:t>
            </a:r>
          </a:p>
        </c:rich>
      </c:tx>
      <c:layout/>
      <c:overlay val="0"/>
    </c:title>
    <c:autoTitleDeleted val="0"/>
    <c:plotArea>
      <c:layout/>
      <c:barChart>
        <c:barDir val="col"/>
        <c:grouping val="clustered"/>
        <c:varyColors val="0"/>
        <c:ser>
          <c:idx val="0"/>
          <c:order val="0"/>
          <c:tx>
            <c:strRef>
              <c:f>Sheet1!$B$1</c:f>
              <c:strCache>
                <c:ptCount val="1"/>
                <c:pt idx="0">
                  <c:v>Transactions</c:v>
                </c:pt>
              </c:strCache>
            </c:strRef>
          </c:tx>
          <c:spPr>
            <a:solidFill>
              <a:srgbClr val="2C3E50"/>
            </a:solidFill>
            <a:effectLst/>
          </c:spPr>
          <c:invertIfNegative val="0"/>
          <c:dLbls>
            <c:numFmt formatCode="#,##0" sourceLinked="0"/>
            <c:txPr>
              <a:bodyPr/>
              <a:lstStyle/>
              <a:p>
                <a:pPr>
                  <a:defRPr b="0" i="0" strike="noStrike" sz="900" u="none">
                    <a:solidFill>
                      <a:srgbClr val="1B2430"/>
                    </a:solidFill>
                    <a:latin typeface="Arial"/>
                  </a:defRPr>
                </a:pPr>
              </a:p>
            </c:txPr>
            <c:showLegendKey val="0"/>
            <c:showVal val="1"/>
            <c:showCatName val="0"/>
            <c:showSerName val="0"/>
            <c:showPercent val="0"/>
            <c:showBubbleSize val="0"/>
            <c:showLeaderLines val="0"/>
          </c:dLbls>
          <c:cat>
            <c:multiLvlStrRef>
              <c:f>Sheet1!$A$2:$A$7</c:f>
              <c:multiLvlStrCache>
                <c:ptCount val="6"/>
                <c:lvl>
                  <c:pt idx="0">
                    <c:v>0–25k</c:v>
                  </c:pt>
                  <c:pt idx="1">
                    <c:v>25–50k</c:v>
                  </c:pt>
                  <c:pt idx="2">
                    <c:v>50–75k</c:v>
                  </c:pt>
                  <c:pt idx="3">
                    <c:v>75–100k</c:v>
                  </c:pt>
                  <c:pt idx="4">
                    <c:v>100–150k</c:v>
                  </c:pt>
                  <c:pt idx="5">
                    <c:v>150k+</c:v>
                  </c:pt>
                </c:lvl>
              </c:multiLvlStrCache>
            </c:multiLvlStrRef>
          </c:cat>
          <c:val>
            <c:numRef>
              <c:f>Sheet1!$B$2:$B$7</c:f>
              <c:numCache>
                <c:formatCode>General</c:formatCode>
                <c:ptCount val="6"/>
                <c:pt idx="0">
                  <c:v>25293</c:v>
                </c:pt>
                <c:pt idx="1">
                  <c:v>24891</c:v>
                </c:pt>
                <c:pt idx="2">
                  <c:v>15076</c:v>
                </c:pt>
                <c:pt idx="3">
                  <c:v>12271</c:v>
                </c:pt>
                <c:pt idx="4">
                  <c:v>14670</c:v>
                </c:pt>
                <c:pt idx="5">
                  <c:v>7799</c:v>
                </c:pt>
              </c:numCache>
            </c:numRef>
          </c:val>
        </c:ser>
        <c:dLbls>
          <c:numFmt formatCode="#,##0" sourceLinked="0"/>
          <c:txPr>
            <a:bodyPr/>
            <a:lstStyle/>
            <a:p>
              <a:pPr>
                <a:defRPr b="0" i="0" strike="noStrike" sz="9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Calibri"/>
              </a:defRPr>
            </a:pPr>
            <a:r>
              <a:rPr sz="1300" b="0" i="0" u="none" strike="noStrike">
                <a:solidFill>
                  <a:srgbClr val="000000"/>
                </a:solidFill>
                <a:latin typeface="Calibri"/>
              </a:rPr>
              <a:t>Correlation of each variable with Final Price</a:t>
            </a:r>
          </a:p>
        </c:rich>
      </c:tx>
      <c:layout/>
      <c:overlay val="0"/>
    </c:title>
    <c:autoTitleDeleted val="0"/>
    <c:plotArea>
      <c:layout/>
      <c:barChart>
        <c:barDir val="bar"/>
        <c:grouping val="clustered"/>
        <c:varyColors val="0"/>
        <c:ser>
          <c:idx val="0"/>
          <c:order val="0"/>
          <c:tx>
            <c:strRef>
              <c:f>Sheet1!$B$1</c:f>
              <c:strCache>
                <c:ptCount val="1"/>
                <c:pt idx="0">
                  <c:v>Correlation with Final Price</c:v>
                </c:pt>
              </c:strCache>
            </c:strRef>
          </c:tx>
          <c:spPr>
            <a:solidFill>
              <a:srgbClr val="2C3E50"/>
            </a:solidFill>
            <a:effectLst/>
          </c:spPr>
          <c:invertIfNegative val="0"/>
          <c:dLbls>
            <c:numFmt formatCode="0.00"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cat>
            <c:multiLvlStrRef>
              <c:f>Sheet1!$A$2:$A$6</c:f>
              <c:multiLvlStrCache>
                <c:ptCount val="5"/>
                <c:lvl>
                  <c:pt idx="0">
                    <c:v>Product Price</c:v>
                  </c:pt>
                  <c:pt idx="1">
                    <c:v>Quantity</c:v>
                  </c:pt>
                  <c:pt idx="2">
                    <c:v>Discount %</c:v>
                  </c:pt>
                  <c:pt idx="3">
                    <c:v>Age</c:v>
                  </c:pt>
                  <c:pt idx="4">
                    <c:v>Delivery Days</c:v>
                  </c:pt>
                </c:lvl>
              </c:multiLvlStrCache>
            </c:multiLvlStrRef>
          </c:cat>
          <c:val>
            <c:numRef>
              <c:f>Sheet1!$B$2:$B$6</c:f>
              <c:numCache>
                <c:formatCode>General</c:formatCode>
                <c:ptCount val="5"/>
                <c:pt idx="0">
                  <c:v>0.73</c:v>
                </c:pt>
                <c:pt idx="1">
                  <c:v>0.58</c:v>
                </c:pt>
                <c:pt idx="2">
                  <c:v>-0.14</c:v>
                </c:pt>
                <c:pt idx="3">
                  <c:v>0</c:v>
                </c:pt>
                <c:pt idx="4">
                  <c:v>0</c:v>
                </c:pt>
              </c:numCache>
            </c:numRef>
          </c:val>
        </c:ser>
        <c:dLbls>
          <c:numFmt formatCode="0.00"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max val="0.9"/>
          <c:min val="-0.3"/>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Calibri"/>
              </a:defRPr>
            </a:pPr>
            <a:r>
              <a:rPr sz="1300" b="0" i="0" u="none" strike="noStrike">
                <a:solidFill>
                  <a:srgbClr val="000000"/>
                </a:solidFill>
                <a:latin typeface="Calibri"/>
              </a:rPr>
              <a:t>Average Final Price by Customer Segment (₹)</a:t>
            </a:r>
          </a:p>
        </c:rich>
      </c:tx>
      <c:layout/>
      <c:overlay val="0"/>
    </c:title>
    <c:autoTitleDeleted val="0"/>
    <c:plotArea>
      <c:layout/>
      <c:barChart>
        <c:barDir val="col"/>
        <c:grouping val="clustered"/>
        <c:varyColors val="0"/>
        <c:ser>
          <c:idx val="0"/>
          <c:order val="0"/>
          <c:tx>
            <c:strRef>
              <c:f>Sheet1!$B$1</c:f>
              <c:strCache>
                <c:ptCount val="1"/>
                <c:pt idx="0">
                  <c:v>Avg Final Price</c:v>
                </c:pt>
              </c:strCache>
            </c:strRef>
          </c:tx>
          <c:spPr>
            <a:solidFill>
              <a:srgbClr val="2C3E50"/>
            </a:solidFill>
            <a:effectLst/>
          </c:spPr>
          <c:invertIfNegative val="0"/>
          <c:dLbls>
            <c:numFmt formatCode="#,##0"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New</c:v>
                  </c:pt>
                  <c:pt idx="1">
                    <c:v>Regular</c:v>
                  </c:pt>
                  <c:pt idx="2">
                    <c:v>Premium</c:v>
                  </c:pt>
                </c:lvl>
              </c:multiLvlStrCache>
            </c:multiLvlStrRef>
          </c:cat>
          <c:val>
            <c:numRef>
              <c:f>Sheet1!$B$2:$B$4</c:f>
              <c:numCache>
                <c:formatCode>General</c:formatCode>
                <c:ptCount val="3"/>
                <c:pt idx="0">
                  <c:v>63767</c:v>
                </c:pt>
                <c:pt idx="1">
                  <c:v>64303</c:v>
                </c:pt>
                <c:pt idx="2">
                  <c:v>64430</c:v>
                </c:pt>
              </c:numCache>
            </c:numRef>
          </c:val>
        </c:ser>
        <c:dLbls>
          <c:numFmt formatCode="#,##0"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00000"/>
                </a:solidFill>
                <a:latin typeface="Calibri"/>
              </a:defRPr>
            </a:pPr>
            <a:r>
              <a:rPr sz="1250" b="0" i="0" u="none" strike="noStrike">
                <a:solidFill>
                  <a:srgbClr val="000000"/>
                </a:solidFill>
                <a:latin typeface="Calibri"/>
              </a:rPr>
              <a:t>Revenue by Category (₹ Crore)</a:t>
            </a:r>
          </a:p>
        </c:rich>
      </c:tx>
      <c:layout/>
      <c:overlay val="0"/>
    </c:title>
    <c:autoTitleDeleted val="0"/>
    <c:plotArea>
      <c:layout/>
      <c:barChart>
        <c:barDir val="bar"/>
        <c:grouping val="clustered"/>
        <c:varyColors val="0"/>
        <c:ser>
          <c:idx val="0"/>
          <c:order val="0"/>
          <c:tx>
            <c:strRef>
              <c:f>Sheet1!$B$1</c:f>
              <c:strCache>
                <c:ptCount val="1"/>
                <c:pt idx="0">
                  <c:v>Revenue (₹ Cr)</c:v>
                </c:pt>
              </c:strCache>
            </c:strRef>
          </c:tx>
          <c:spPr>
            <a:solidFill>
              <a:srgbClr val="2C3E50"/>
            </a:solidFill>
            <a:effectLst/>
          </c:spPr>
          <c:invertIfNegative val="0"/>
          <c:dLbls>
            <c:numFmt formatCode="0.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cat>
            <c:multiLvlStrRef>
              <c:f>Sheet1!$A$2:$A$7</c:f>
              <c:multiLvlStrCache>
                <c:ptCount val="6"/>
                <c:lvl>
                  <c:pt idx="0">
                    <c:v>Home&amp;Kitchen</c:v>
                  </c:pt>
                  <c:pt idx="1">
                    <c:v>Health</c:v>
                  </c:pt>
                  <c:pt idx="2">
                    <c:v>Electronics</c:v>
                  </c:pt>
                  <c:pt idx="3">
                    <c:v>Grocery</c:v>
                  </c:pt>
                  <c:pt idx="4">
                    <c:v>Fashion</c:v>
                  </c:pt>
                  <c:pt idx="5">
                    <c:v>Beauty</c:v>
                  </c:pt>
                </c:lvl>
              </c:multiLvlStrCache>
            </c:multiLvlStrRef>
          </c:cat>
          <c:val>
            <c:numRef>
              <c:f>Sheet1!$B$2:$B$7</c:f>
              <c:numCache>
                <c:formatCode>General</c:formatCode>
                <c:ptCount val="6"/>
                <c:pt idx="0">
                  <c:v>109.2</c:v>
                </c:pt>
                <c:pt idx="1">
                  <c:v>107.4</c:v>
                </c:pt>
                <c:pt idx="2">
                  <c:v>106.6</c:v>
                </c:pt>
                <c:pt idx="3">
                  <c:v>106.4</c:v>
                </c:pt>
                <c:pt idx="4">
                  <c:v>106.3</c:v>
                </c:pt>
                <c:pt idx="5">
                  <c:v>105.7</c:v>
                </c:pt>
              </c:numCache>
            </c:numRef>
          </c:val>
        </c:ser>
        <c:dLbls>
          <c:numFmt formatCode="0.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max val="112"/>
          <c:min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00000"/>
                </a:solidFill>
                <a:latin typeface="Calibri"/>
              </a:defRPr>
            </a:pPr>
            <a:r>
              <a:rPr sz="1250" b="0" i="0" u="none" strike="noStrike">
                <a:solidFill>
                  <a:srgbClr val="000000"/>
                </a:solidFill>
                <a:latin typeface="Calibri"/>
              </a:rPr>
              <a:t>Return Rate by Category (%)</a:t>
            </a:r>
          </a:p>
        </c:rich>
      </c:tx>
      <c:layout/>
      <c:overlay val="0"/>
    </c:title>
    <c:autoTitleDeleted val="0"/>
    <c:plotArea>
      <c:layout/>
      <c:barChart>
        <c:barDir val="bar"/>
        <c:grouping val="clustered"/>
        <c:varyColors val="0"/>
        <c:ser>
          <c:idx val="0"/>
          <c:order val="0"/>
          <c:tx>
            <c:strRef>
              <c:f>Sheet1!$B$1</c:f>
              <c:strCache>
                <c:ptCount val="1"/>
                <c:pt idx="0">
                  <c:v>Return Rate %</c:v>
                </c:pt>
              </c:strCache>
            </c:strRef>
          </c:tx>
          <c:spPr>
            <a:solidFill>
              <a:srgbClr val="5D8AA8"/>
            </a:solidFill>
            <a:effectLst/>
          </c:spPr>
          <c:invertIfNegative val="0"/>
          <c:dLbls>
            <c:numFmt formatCode="0.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cat>
            <c:multiLvlStrRef>
              <c:f>Sheet1!$A$2:$A$7</c:f>
              <c:multiLvlStrCache>
                <c:ptCount val="6"/>
                <c:lvl>
                  <c:pt idx="0">
                    <c:v>Fashion</c:v>
                  </c:pt>
                  <c:pt idx="1">
                    <c:v>Home&amp;Kitchen</c:v>
                  </c:pt>
                  <c:pt idx="2">
                    <c:v>Grocery</c:v>
                  </c:pt>
                  <c:pt idx="3">
                    <c:v>Health</c:v>
                  </c:pt>
                  <c:pt idx="4">
                    <c:v>Beauty</c:v>
                  </c:pt>
                  <c:pt idx="5">
                    <c:v>Electronics</c:v>
                  </c:pt>
                </c:lvl>
              </c:multiLvlStrCache>
            </c:multiLvlStrRef>
          </c:cat>
          <c:val>
            <c:numRef>
              <c:f>Sheet1!$B$2:$B$7</c:f>
              <c:numCache>
                <c:formatCode>General</c:formatCode>
                <c:ptCount val="6"/>
                <c:pt idx="0">
                  <c:v>15</c:v>
                </c:pt>
                <c:pt idx="1">
                  <c:v>14.9</c:v>
                </c:pt>
                <c:pt idx="2">
                  <c:v>14.9</c:v>
                </c:pt>
                <c:pt idx="3">
                  <c:v>14.8</c:v>
                </c:pt>
                <c:pt idx="4">
                  <c:v>14.8</c:v>
                </c:pt>
                <c:pt idx="5">
                  <c:v>14.5</c:v>
                </c:pt>
              </c:numCache>
            </c:numRef>
          </c:val>
        </c:ser>
        <c:dLbls>
          <c:numFmt formatCode="0.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max val="15.3"/>
          <c:min val="1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4"/>
        </a:solidFill>
      </p:bgPr>
    </p:bg>
    <p:spTree>
      <p:nvGrpSpPr>
        <p:cNvPr id="1" name=""/>
        <p:cNvGrpSpPr/>
        <p:nvPr/>
      </p:nvGrpSpPr>
      <p:grpSpPr>
        <a:xfrm>
          <a:off x="0" y="0"/>
          <a:ext cx="0" cy="0"/>
          <a:chOff x="0" y="0"/>
          <a:chExt cx="0" cy="0"/>
        </a:xfrm>
      </p:grpSpPr>
      <p:sp>
        <p:nvSpPr>
          <p:cNvPr id="2" name="Shape 0"/>
          <p:cNvSpPr/>
          <p:nvPr/>
        </p:nvSpPr>
        <p:spPr>
          <a:xfrm>
            <a:off x="640080" y="640080"/>
            <a:ext cx="1554480" cy="320040"/>
          </a:xfrm>
          <a:prstGeom prst="roundRect">
            <a:avLst>
              <a:gd name="adj" fmla="val 22857"/>
            </a:avLst>
          </a:prstGeom>
          <a:solidFill>
            <a:srgbClr val="3AA0FF"/>
          </a:solidFill>
          <a:ln/>
        </p:spPr>
      </p:sp>
      <p:sp>
        <p:nvSpPr>
          <p:cNvPr id="3" name="Text 1"/>
          <p:cNvSpPr txBox="1"/>
          <p:nvPr/>
        </p:nvSpPr>
        <p:spPr>
          <a:xfrm>
            <a:off x="640080" y="640080"/>
            <a:ext cx="1554480" cy="320040"/>
          </a:xfrm>
          <a:prstGeom prst="rect">
            <a:avLst/>
          </a:prstGeom>
          <a:noFill/>
          <a:ln/>
        </p:spPr>
        <p:txBody>
          <a:bodyPr wrap="square" lIns="0" tIns="0" rIns="0" bIns="0" rtlCol="0" anchor="ctr"/>
          <a:lstStyle/>
          <a:p>
            <a:pPr algn="ctr" indent="0" marL="0">
              <a:buNone/>
            </a:pPr>
            <a:r>
              <a:rPr lang="en-US" sz="1100" b="1" spc="100" kern="0" dirty="0">
                <a:solidFill>
                  <a:srgbClr val="0E1524"/>
                </a:solidFill>
                <a:latin typeface="Calibri" pitchFamily="34" charset="0"/>
                <a:ea typeface="Calibri" pitchFamily="34" charset="-122"/>
                <a:cs typeface="Calibri" pitchFamily="34" charset="-120"/>
              </a:rPr>
              <a:t>PROJECT REPORT</a:t>
            </a:r>
            <a:endParaRPr lang="en-US" sz="1100" dirty="0"/>
          </a:p>
        </p:txBody>
      </p:sp>
      <p:sp>
        <p:nvSpPr>
          <p:cNvPr id="4" name="Text 2"/>
          <p:cNvSpPr txBox="1"/>
          <p:nvPr/>
        </p:nvSpPr>
        <p:spPr>
          <a:xfrm>
            <a:off x="640080" y="1371600"/>
            <a:ext cx="107899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Retail Transaction Data:</a:t>
            </a:r>
            <a:endParaRPr lang="en-US" sz="4000" dirty="0"/>
          </a:p>
        </p:txBody>
      </p:sp>
      <p:sp>
        <p:nvSpPr>
          <p:cNvPr id="5" name="Text 3"/>
          <p:cNvSpPr txBox="1"/>
          <p:nvPr/>
        </p:nvSpPr>
        <p:spPr>
          <a:xfrm>
            <a:off x="640080" y="2011680"/>
            <a:ext cx="10789920" cy="822960"/>
          </a:xfrm>
          <a:prstGeom prst="rect">
            <a:avLst/>
          </a:prstGeom>
          <a:noFill/>
          <a:ln/>
        </p:spPr>
        <p:txBody>
          <a:bodyPr wrap="square" lIns="0" tIns="0" rIns="0" bIns="0" rtlCol="0" anchor="ctr"/>
          <a:lstStyle/>
          <a:p>
            <a:pPr indent="0" marL="0">
              <a:buNone/>
            </a:pPr>
            <a:r>
              <a:rPr lang="en-US" sz="4000" b="1" dirty="0">
                <a:solidFill>
                  <a:srgbClr val="3AA0FF"/>
                </a:solidFill>
                <a:latin typeface="Cambria" pitchFamily="34" charset="0"/>
                <a:ea typeface="Cambria" pitchFamily="34" charset="-122"/>
                <a:cs typeface="Cambria" pitchFamily="34" charset="-120"/>
              </a:rPr>
              <a:t>Exploratory Data Analysis</a:t>
            </a:r>
            <a:endParaRPr lang="en-US" sz="4000" dirty="0"/>
          </a:p>
        </p:txBody>
      </p:sp>
      <p:sp>
        <p:nvSpPr>
          <p:cNvPr id="6" name="Text 4"/>
          <p:cNvSpPr txBox="1"/>
          <p:nvPr/>
        </p:nvSpPr>
        <p:spPr>
          <a:xfrm>
            <a:off x="640080" y="2880360"/>
            <a:ext cx="10058400" cy="457200"/>
          </a:xfrm>
          <a:prstGeom prst="rect">
            <a:avLst/>
          </a:prstGeom>
          <a:noFill/>
          <a:ln/>
        </p:spPr>
        <p:txBody>
          <a:bodyPr wrap="square" lIns="0" tIns="0" rIns="0" bIns="0" rtlCol="0" anchor="ctr"/>
          <a:lstStyle/>
          <a:p>
            <a:pPr indent="0" marL="0">
              <a:buNone/>
            </a:pPr>
            <a:r>
              <a:rPr lang="en-US" sz="1500" dirty="0">
                <a:solidFill>
                  <a:srgbClr val="AAB6C8"/>
                </a:solidFill>
                <a:latin typeface="Calibri" pitchFamily="34" charset="0"/>
                <a:ea typeface="Calibri" pitchFamily="34" charset="-122"/>
                <a:cs typeface="Calibri" pitchFamily="34" charset="-120"/>
              </a:rPr>
              <a:t>100,000 transactions  •  18 variables  •  Data-driven business insights</a:t>
            </a:r>
            <a:endParaRPr lang="en-US" sz="1500" dirty="0"/>
          </a:p>
        </p:txBody>
      </p:sp>
      <p:sp>
        <p:nvSpPr>
          <p:cNvPr id="7" name="Shape 5"/>
          <p:cNvSpPr/>
          <p:nvPr/>
        </p:nvSpPr>
        <p:spPr>
          <a:xfrm>
            <a:off x="640080" y="5166360"/>
            <a:ext cx="4846320" cy="1234440"/>
          </a:xfrm>
          <a:prstGeom prst="roundRect">
            <a:avLst>
              <a:gd name="adj" fmla="val 7407"/>
            </a:avLst>
          </a:prstGeom>
          <a:solidFill>
            <a:srgbClr val="141C30"/>
          </a:solidFill>
          <a:ln w="12700">
            <a:solidFill>
              <a:srgbClr val="26314A"/>
            </a:solidFill>
            <a:prstDash val="solid"/>
          </a:ln>
        </p:spPr>
      </p:sp>
      <p:sp>
        <p:nvSpPr>
          <p:cNvPr id="8" name="Text 6"/>
          <p:cNvSpPr txBox="1"/>
          <p:nvPr/>
        </p:nvSpPr>
        <p:spPr>
          <a:xfrm>
            <a:off x="914400" y="5321808"/>
            <a:ext cx="4297680" cy="274320"/>
          </a:xfrm>
          <a:prstGeom prst="rect">
            <a:avLst/>
          </a:prstGeom>
          <a:noFill/>
          <a:ln/>
        </p:spPr>
        <p:txBody>
          <a:bodyPr wrap="square" lIns="0" tIns="0" rIns="0" bIns="0" rtlCol="0" anchor="ctr"/>
          <a:lstStyle/>
          <a:p>
            <a:pPr indent="0" marL="0">
              <a:buNone/>
            </a:pPr>
            <a:r>
              <a:rPr lang="en-US" sz="1000" b="1" spc="100" kern="0" dirty="0">
                <a:solidFill>
                  <a:srgbClr val="3AA0FF"/>
                </a:solidFill>
                <a:latin typeface="Calibri" pitchFamily="34" charset="0"/>
                <a:ea typeface="Calibri" pitchFamily="34" charset="-122"/>
                <a:cs typeface="Calibri" pitchFamily="34" charset="-120"/>
              </a:rPr>
              <a:t>PRESENTED BY</a:t>
            </a:r>
            <a:endParaRPr lang="en-US" sz="1000" dirty="0"/>
          </a:p>
        </p:txBody>
      </p:sp>
      <p:sp>
        <p:nvSpPr>
          <p:cNvPr id="9" name="Text 7"/>
          <p:cNvSpPr txBox="1"/>
          <p:nvPr/>
        </p:nvSpPr>
        <p:spPr>
          <a:xfrm>
            <a:off x="914400" y="5596128"/>
            <a:ext cx="429768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Farin Shaha</a:t>
            </a:r>
            <a:endParaRPr lang="en-US" sz="2200" dirty="0"/>
          </a:p>
        </p:txBody>
      </p:sp>
      <p:sp>
        <p:nvSpPr>
          <p:cNvPr id="10" name="Text 8"/>
          <p:cNvSpPr txBox="1"/>
          <p:nvPr/>
        </p:nvSpPr>
        <p:spPr>
          <a:xfrm>
            <a:off x="914400" y="6035040"/>
            <a:ext cx="4297680" cy="274320"/>
          </a:xfrm>
          <a:prstGeom prst="rect">
            <a:avLst/>
          </a:prstGeom>
          <a:noFill/>
          <a:ln/>
        </p:spPr>
        <p:txBody>
          <a:bodyPr wrap="square" lIns="0" tIns="0" rIns="0" bIns="0" rtlCol="0" anchor="ctr"/>
          <a:lstStyle/>
          <a:p>
            <a:pPr indent="0" marL="0">
              <a:buNone/>
            </a:pPr>
            <a:r>
              <a:rPr lang="en-US" sz="1100" dirty="0">
                <a:solidFill>
                  <a:srgbClr val="8290A8"/>
                </a:solidFill>
                <a:latin typeface="Calibri" pitchFamily="34" charset="0"/>
                <a:ea typeface="Calibri" pitchFamily="34" charset="-122"/>
                <a:cs typeface="Calibri" pitchFamily="34" charset="-120"/>
              </a:rPr>
              <a:t>Nexthike IT Solution  •  Data Analytics Program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188720" cy="320040"/>
          </a:xfrm>
          <a:prstGeom prst="roundRect">
            <a:avLst>
              <a:gd name="adj" fmla="val 22857"/>
            </a:avLst>
          </a:prstGeom>
          <a:solidFill>
            <a:srgbClr val="2C3E50"/>
          </a:solidFill>
          <a:ln/>
        </p:spPr>
      </p:sp>
      <p:sp>
        <p:nvSpPr>
          <p:cNvPr id="3" name="Text 1"/>
          <p:cNvSpPr txBox="1"/>
          <p:nvPr/>
        </p:nvSpPr>
        <p:spPr>
          <a:xfrm>
            <a:off x="640080" y="502920"/>
            <a:ext cx="118872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AGENDA</a:t>
            </a:r>
            <a:endParaRPr lang="en-US" sz="1100" dirty="0"/>
          </a:p>
        </p:txBody>
      </p:sp>
      <p:sp>
        <p:nvSpPr>
          <p:cNvPr id="4" name="Text 2"/>
          <p:cNvSpPr txBox="1"/>
          <p:nvPr/>
        </p:nvSpPr>
        <p:spPr>
          <a:xfrm>
            <a:off x="640080" y="914400"/>
            <a:ext cx="1005840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What we'll cover</a:t>
            </a:r>
            <a:endParaRPr lang="en-US" sz="3000" dirty="0"/>
          </a:p>
        </p:txBody>
      </p:sp>
      <p:sp>
        <p:nvSpPr>
          <p:cNvPr id="5" name="Text 3"/>
          <p:cNvSpPr txBox="1"/>
          <p:nvPr/>
        </p:nvSpPr>
        <p:spPr>
          <a:xfrm>
            <a:off x="640080" y="1874520"/>
            <a:ext cx="640080" cy="822960"/>
          </a:xfrm>
          <a:prstGeom prst="rect">
            <a:avLst/>
          </a:prstGeom>
          <a:noFill/>
          <a:ln/>
        </p:spPr>
        <p:txBody>
          <a:bodyPr wrap="square" lIns="0" tIns="0" rIns="0" bIns="0" rtlCol="0" anchor="ctr"/>
          <a:lstStyle/>
          <a:p>
            <a:pPr indent="0" marL="0">
              <a:buNone/>
            </a:pPr>
            <a:r>
              <a:rPr lang="en-US" sz="2600" b="1" dirty="0">
                <a:solidFill>
                  <a:srgbClr val="D8DEE7"/>
                </a:solidFill>
                <a:latin typeface="Cambria" pitchFamily="34" charset="0"/>
                <a:ea typeface="Cambria" pitchFamily="34" charset="-122"/>
                <a:cs typeface="Cambria" pitchFamily="34" charset="-120"/>
              </a:rPr>
              <a:t>01</a:t>
            </a:r>
            <a:endParaRPr lang="en-US" sz="2600" dirty="0"/>
          </a:p>
        </p:txBody>
      </p:sp>
      <p:sp>
        <p:nvSpPr>
          <p:cNvPr id="6" name="Text 4"/>
          <p:cNvSpPr txBox="1"/>
          <p:nvPr/>
        </p:nvSpPr>
        <p:spPr>
          <a:xfrm>
            <a:off x="1325880" y="1892808"/>
            <a:ext cx="4434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Business Objective</a:t>
            </a:r>
            <a:endParaRPr lang="en-US" sz="1500" dirty="0"/>
          </a:p>
        </p:txBody>
      </p:sp>
      <p:sp>
        <p:nvSpPr>
          <p:cNvPr id="7" name="Text 5"/>
          <p:cNvSpPr txBox="1"/>
          <p:nvPr/>
        </p:nvSpPr>
        <p:spPr>
          <a:xfrm>
            <a:off x="1325880" y="2258568"/>
            <a:ext cx="443484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Why this analysis matters</a:t>
            </a:r>
            <a:endParaRPr lang="en-US" sz="1150" dirty="0"/>
          </a:p>
        </p:txBody>
      </p:sp>
      <p:sp>
        <p:nvSpPr>
          <p:cNvPr id="8" name="Text 6"/>
          <p:cNvSpPr txBox="1"/>
          <p:nvPr/>
        </p:nvSpPr>
        <p:spPr>
          <a:xfrm>
            <a:off x="640080" y="2953512"/>
            <a:ext cx="640080" cy="822960"/>
          </a:xfrm>
          <a:prstGeom prst="rect">
            <a:avLst/>
          </a:prstGeom>
          <a:noFill/>
          <a:ln/>
        </p:spPr>
        <p:txBody>
          <a:bodyPr wrap="square" lIns="0" tIns="0" rIns="0" bIns="0" rtlCol="0" anchor="ctr"/>
          <a:lstStyle/>
          <a:p>
            <a:pPr indent="0" marL="0">
              <a:buNone/>
            </a:pPr>
            <a:r>
              <a:rPr lang="en-US" sz="2600" b="1" dirty="0">
                <a:solidFill>
                  <a:srgbClr val="D8DEE7"/>
                </a:solidFill>
                <a:latin typeface="Cambria" pitchFamily="34" charset="0"/>
                <a:ea typeface="Cambria" pitchFamily="34" charset="-122"/>
                <a:cs typeface="Cambria" pitchFamily="34" charset="-120"/>
              </a:rPr>
              <a:t>02</a:t>
            </a:r>
            <a:endParaRPr lang="en-US" sz="2600" dirty="0"/>
          </a:p>
        </p:txBody>
      </p:sp>
      <p:sp>
        <p:nvSpPr>
          <p:cNvPr id="9" name="Text 7"/>
          <p:cNvSpPr txBox="1"/>
          <p:nvPr/>
        </p:nvSpPr>
        <p:spPr>
          <a:xfrm>
            <a:off x="1325880" y="2971800"/>
            <a:ext cx="4434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Dataset Overview</a:t>
            </a:r>
            <a:endParaRPr lang="en-US" sz="1500" dirty="0"/>
          </a:p>
        </p:txBody>
      </p:sp>
      <p:sp>
        <p:nvSpPr>
          <p:cNvPr id="10" name="Text 8"/>
          <p:cNvSpPr txBox="1"/>
          <p:nvPr/>
        </p:nvSpPr>
        <p:spPr>
          <a:xfrm>
            <a:off x="1325880" y="3337560"/>
            <a:ext cx="443484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Scale, structure and quality</a:t>
            </a:r>
            <a:endParaRPr lang="en-US" sz="1150" dirty="0"/>
          </a:p>
        </p:txBody>
      </p:sp>
      <p:sp>
        <p:nvSpPr>
          <p:cNvPr id="11" name="Text 9"/>
          <p:cNvSpPr txBox="1"/>
          <p:nvPr/>
        </p:nvSpPr>
        <p:spPr>
          <a:xfrm>
            <a:off x="640080" y="4032504"/>
            <a:ext cx="640080" cy="822960"/>
          </a:xfrm>
          <a:prstGeom prst="rect">
            <a:avLst/>
          </a:prstGeom>
          <a:noFill/>
          <a:ln/>
        </p:spPr>
        <p:txBody>
          <a:bodyPr wrap="square" lIns="0" tIns="0" rIns="0" bIns="0" rtlCol="0" anchor="ctr"/>
          <a:lstStyle/>
          <a:p>
            <a:pPr indent="0" marL="0">
              <a:buNone/>
            </a:pPr>
            <a:r>
              <a:rPr lang="en-US" sz="2600" b="1" dirty="0">
                <a:solidFill>
                  <a:srgbClr val="D8DEE7"/>
                </a:solidFill>
                <a:latin typeface="Cambria" pitchFamily="34" charset="0"/>
                <a:ea typeface="Cambria" pitchFamily="34" charset="-122"/>
                <a:cs typeface="Cambria" pitchFamily="34" charset="-120"/>
              </a:rPr>
              <a:t>03</a:t>
            </a:r>
            <a:endParaRPr lang="en-US" sz="2600" dirty="0"/>
          </a:p>
        </p:txBody>
      </p:sp>
      <p:sp>
        <p:nvSpPr>
          <p:cNvPr id="12" name="Text 10"/>
          <p:cNvSpPr txBox="1"/>
          <p:nvPr/>
        </p:nvSpPr>
        <p:spPr>
          <a:xfrm>
            <a:off x="1325880" y="4050792"/>
            <a:ext cx="4434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Methodology</a:t>
            </a:r>
            <a:endParaRPr lang="en-US" sz="1500" dirty="0"/>
          </a:p>
        </p:txBody>
      </p:sp>
      <p:sp>
        <p:nvSpPr>
          <p:cNvPr id="13" name="Text 11"/>
          <p:cNvSpPr txBox="1"/>
          <p:nvPr/>
        </p:nvSpPr>
        <p:spPr>
          <a:xfrm>
            <a:off x="1325880" y="4416552"/>
            <a:ext cx="443484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Our analytical approach</a:t>
            </a:r>
            <a:endParaRPr lang="en-US" sz="1150" dirty="0"/>
          </a:p>
        </p:txBody>
      </p:sp>
      <p:sp>
        <p:nvSpPr>
          <p:cNvPr id="14" name="Text 12"/>
          <p:cNvSpPr txBox="1"/>
          <p:nvPr/>
        </p:nvSpPr>
        <p:spPr>
          <a:xfrm>
            <a:off x="640080" y="5111496"/>
            <a:ext cx="640080" cy="822960"/>
          </a:xfrm>
          <a:prstGeom prst="rect">
            <a:avLst/>
          </a:prstGeom>
          <a:noFill/>
          <a:ln/>
        </p:spPr>
        <p:txBody>
          <a:bodyPr wrap="square" lIns="0" tIns="0" rIns="0" bIns="0" rtlCol="0" anchor="ctr"/>
          <a:lstStyle/>
          <a:p>
            <a:pPr indent="0" marL="0">
              <a:buNone/>
            </a:pPr>
            <a:r>
              <a:rPr lang="en-US" sz="2600" b="1" dirty="0">
                <a:solidFill>
                  <a:srgbClr val="D8DEE7"/>
                </a:solidFill>
                <a:latin typeface="Cambria" pitchFamily="34" charset="0"/>
                <a:ea typeface="Cambria" pitchFamily="34" charset="-122"/>
                <a:cs typeface="Cambria" pitchFamily="34" charset="-120"/>
              </a:rPr>
              <a:t>04</a:t>
            </a:r>
            <a:endParaRPr lang="en-US" sz="2600" dirty="0"/>
          </a:p>
        </p:txBody>
      </p:sp>
      <p:sp>
        <p:nvSpPr>
          <p:cNvPr id="15" name="Text 13"/>
          <p:cNvSpPr txBox="1"/>
          <p:nvPr/>
        </p:nvSpPr>
        <p:spPr>
          <a:xfrm>
            <a:off x="1325880" y="5129784"/>
            <a:ext cx="4434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Univariate Analysis</a:t>
            </a:r>
            <a:endParaRPr lang="en-US" sz="1500" dirty="0"/>
          </a:p>
        </p:txBody>
      </p:sp>
      <p:sp>
        <p:nvSpPr>
          <p:cNvPr id="16" name="Text 14"/>
          <p:cNvSpPr txBox="1"/>
          <p:nvPr/>
        </p:nvSpPr>
        <p:spPr>
          <a:xfrm>
            <a:off x="1325880" y="5495544"/>
            <a:ext cx="443484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Customers, pricing &amp; purchase behavior</a:t>
            </a:r>
            <a:endParaRPr lang="en-US" sz="1150" dirty="0"/>
          </a:p>
        </p:txBody>
      </p:sp>
      <p:sp>
        <p:nvSpPr>
          <p:cNvPr id="17" name="Text 15"/>
          <p:cNvSpPr txBox="1"/>
          <p:nvPr/>
        </p:nvSpPr>
        <p:spPr>
          <a:xfrm>
            <a:off x="6126480" y="1874520"/>
            <a:ext cx="640080" cy="822960"/>
          </a:xfrm>
          <a:prstGeom prst="rect">
            <a:avLst/>
          </a:prstGeom>
          <a:noFill/>
          <a:ln/>
        </p:spPr>
        <p:txBody>
          <a:bodyPr wrap="square" lIns="0" tIns="0" rIns="0" bIns="0" rtlCol="0" anchor="ctr"/>
          <a:lstStyle/>
          <a:p>
            <a:pPr indent="0" marL="0">
              <a:buNone/>
            </a:pPr>
            <a:r>
              <a:rPr lang="en-US" sz="2600" b="1" dirty="0">
                <a:solidFill>
                  <a:srgbClr val="D8DEE7"/>
                </a:solidFill>
                <a:latin typeface="Cambria" pitchFamily="34" charset="0"/>
                <a:ea typeface="Cambria" pitchFamily="34" charset="-122"/>
                <a:cs typeface="Cambria" pitchFamily="34" charset="-120"/>
              </a:rPr>
              <a:t>05</a:t>
            </a:r>
            <a:endParaRPr lang="en-US" sz="2600" dirty="0"/>
          </a:p>
        </p:txBody>
      </p:sp>
      <p:sp>
        <p:nvSpPr>
          <p:cNvPr id="18" name="Text 16"/>
          <p:cNvSpPr txBox="1"/>
          <p:nvPr/>
        </p:nvSpPr>
        <p:spPr>
          <a:xfrm>
            <a:off x="6812280" y="1892808"/>
            <a:ext cx="4434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Bivariate &amp; Correlation</a:t>
            </a:r>
            <a:endParaRPr lang="en-US" sz="1500" dirty="0"/>
          </a:p>
        </p:txBody>
      </p:sp>
      <p:sp>
        <p:nvSpPr>
          <p:cNvPr id="19" name="Text 17"/>
          <p:cNvSpPr txBox="1"/>
          <p:nvPr/>
        </p:nvSpPr>
        <p:spPr>
          <a:xfrm>
            <a:off x="6812280" y="2258568"/>
            <a:ext cx="443484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Relationships between key variables</a:t>
            </a:r>
            <a:endParaRPr lang="en-US" sz="1150" dirty="0"/>
          </a:p>
        </p:txBody>
      </p:sp>
      <p:sp>
        <p:nvSpPr>
          <p:cNvPr id="20" name="Text 18"/>
          <p:cNvSpPr txBox="1"/>
          <p:nvPr/>
        </p:nvSpPr>
        <p:spPr>
          <a:xfrm>
            <a:off x="6126480" y="2953512"/>
            <a:ext cx="640080" cy="822960"/>
          </a:xfrm>
          <a:prstGeom prst="rect">
            <a:avLst/>
          </a:prstGeom>
          <a:noFill/>
          <a:ln/>
        </p:spPr>
        <p:txBody>
          <a:bodyPr wrap="square" lIns="0" tIns="0" rIns="0" bIns="0" rtlCol="0" anchor="ctr"/>
          <a:lstStyle/>
          <a:p>
            <a:pPr indent="0" marL="0">
              <a:buNone/>
            </a:pPr>
            <a:r>
              <a:rPr lang="en-US" sz="2600" b="1" dirty="0">
                <a:solidFill>
                  <a:srgbClr val="D8DEE7"/>
                </a:solidFill>
                <a:latin typeface="Cambria" pitchFamily="34" charset="0"/>
                <a:ea typeface="Cambria" pitchFamily="34" charset="-122"/>
                <a:cs typeface="Cambria" pitchFamily="34" charset="-120"/>
              </a:rPr>
              <a:t>06</a:t>
            </a:r>
            <a:endParaRPr lang="en-US" sz="2600" dirty="0"/>
          </a:p>
        </p:txBody>
      </p:sp>
      <p:sp>
        <p:nvSpPr>
          <p:cNvPr id="21" name="Text 19"/>
          <p:cNvSpPr txBox="1"/>
          <p:nvPr/>
        </p:nvSpPr>
        <p:spPr>
          <a:xfrm>
            <a:off x="6812280" y="2971800"/>
            <a:ext cx="4434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Outlier Detection</a:t>
            </a:r>
            <a:endParaRPr lang="en-US" sz="1500" dirty="0"/>
          </a:p>
        </p:txBody>
      </p:sp>
      <p:sp>
        <p:nvSpPr>
          <p:cNvPr id="22" name="Text 20"/>
          <p:cNvSpPr txBox="1"/>
          <p:nvPr/>
        </p:nvSpPr>
        <p:spPr>
          <a:xfrm>
            <a:off x="6812280" y="3337560"/>
            <a:ext cx="443484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Data quality checks (IQR &amp; Z-score)</a:t>
            </a:r>
            <a:endParaRPr lang="en-US" sz="1150" dirty="0"/>
          </a:p>
        </p:txBody>
      </p:sp>
      <p:sp>
        <p:nvSpPr>
          <p:cNvPr id="23" name="Text 21"/>
          <p:cNvSpPr txBox="1"/>
          <p:nvPr/>
        </p:nvSpPr>
        <p:spPr>
          <a:xfrm>
            <a:off x="6126480" y="4032504"/>
            <a:ext cx="640080" cy="822960"/>
          </a:xfrm>
          <a:prstGeom prst="rect">
            <a:avLst/>
          </a:prstGeom>
          <a:noFill/>
          <a:ln/>
        </p:spPr>
        <p:txBody>
          <a:bodyPr wrap="square" lIns="0" tIns="0" rIns="0" bIns="0" rtlCol="0" anchor="ctr"/>
          <a:lstStyle/>
          <a:p>
            <a:pPr indent="0" marL="0">
              <a:buNone/>
            </a:pPr>
            <a:r>
              <a:rPr lang="en-US" sz="2600" b="1" dirty="0">
                <a:solidFill>
                  <a:srgbClr val="D8DEE7"/>
                </a:solidFill>
                <a:latin typeface="Cambria" pitchFamily="34" charset="0"/>
                <a:ea typeface="Cambria" pitchFamily="34" charset="-122"/>
                <a:cs typeface="Cambria" pitchFamily="34" charset="-120"/>
              </a:rPr>
              <a:t>07</a:t>
            </a:r>
            <a:endParaRPr lang="en-US" sz="2600" dirty="0"/>
          </a:p>
        </p:txBody>
      </p:sp>
      <p:sp>
        <p:nvSpPr>
          <p:cNvPr id="24" name="Text 22"/>
          <p:cNvSpPr txBox="1"/>
          <p:nvPr/>
        </p:nvSpPr>
        <p:spPr>
          <a:xfrm>
            <a:off x="6812280" y="4050792"/>
            <a:ext cx="4434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Revenue &amp; Returns</a:t>
            </a:r>
            <a:endParaRPr lang="en-US" sz="1500" dirty="0"/>
          </a:p>
        </p:txBody>
      </p:sp>
      <p:sp>
        <p:nvSpPr>
          <p:cNvPr id="25" name="Text 23"/>
          <p:cNvSpPr txBox="1"/>
          <p:nvPr/>
        </p:nvSpPr>
        <p:spPr>
          <a:xfrm>
            <a:off x="6812280" y="4416552"/>
            <a:ext cx="443484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Segment, category &amp; logistics performance</a:t>
            </a:r>
            <a:endParaRPr lang="en-US" sz="1150" dirty="0"/>
          </a:p>
        </p:txBody>
      </p:sp>
      <p:sp>
        <p:nvSpPr>
          <p:cNvPr id="26" name="Text 24"/>
          <p:cNvSpPr txBox="1"/>
          <p:nvPr/>
        </p:nvSpPr>
        <p:spPr>
          <a:xfrm>
            <a:off x="6126480" y="5111496"/>
            <a:ext cx="640080" cy="822960"/>
          </a:xfrm>
          <a:prstGeom prst="rect">
            <a:avLst/>
          </a:prstGeom>
          <a:noFill/>
          <a:ln/>
        </p:spPr>
        <p:txBody>
          <a:bodyPr wrap="square" lIns="0" tIns="0" rIns="0" bIns="0" rtlCol="0" anchor="ctr"/>
          <a:lstStyle/>
          <a:p>
            <a:pPr indent="0" marL="0">
              <a:buNone/>
            </a:pPr>
            <a:r>
              <a:rPr lang="en-US" sz="2600" b="1" dirty="0">
                <a:solidFill>
                  <a:srgbClr val="D8DEE7"/>
                </a:solidFill>
                <a:latin typeface="Cambria" pitchFamily="34" charset="0"/>
                <a:ea typeface="Cambria" pitchFamily="34" charset="-122"/>
                <a:cs typeface="Cambria" pitchFamily="34" charset="-120"/>
              </a:rPr>
              <a:t>08</a:t>
            </a:r>
            <a:endParaRPr lang="en-US" sz="2600" dirty="0"/>
          </a:p>
        </p:txBody>
      </p:sp>
      <p:sp>
        <p:nvSpPr>
          <p:cNvPr id="27" name="Text 25"/>
          <p:cNvSpPr txBox="1"/>
          <p:nvPr/>
        </p:nvSpPr>
        <p:spPr>
          <a:xfrm>
            <a:off x="6812280" y="5129784"/>
            <a:ext cx="4434840" cy="36576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Business Recommendations</a:t>
            </a:r>
            <a:endParaRPr lang="en-US" sz="1500" dirty="0"/>
          </a:p>
        </p:txBody>
      </p:sp>
      <p:sp>
        <p:nvSpPr>
          <p:cNvPr id="28" name="Text 26"/>
          <p:cNvSpPr txBox="1"/>
          <p:nvPr/>
        </p:nvSpPr>
        <p:spPr>
          <a:xfrm>
            <a:off x="6812280" y="5495544"/>
            <a:ext cx="4434840" cy="45720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Where to focus for growth</a:t>
            </a:r>
            <a:endParaRPr lang="en-US" sz="1150" dirty="0"/>
          </a:p>
        </p:txBody>
      </p:sp>
      <p:sp>
        <p:nvSpPr>
          <p:cNvPr id="29" name="Text 27"/>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30" name="Text 28"/>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40080" y="502920"/>
            <a:ext cx="1280160" cy="320040"/>
          </a:xfrm>
          <a:prstGeom prst="roundRect">
            <a:avLst>
              <a:gd name="adj" fmla="val 22857"/>
            </a:avLst>
          </a:prstGeom>
          <a:solidFill>
            <a:srgbClr val="2C3E50"/>
          </a:solidFill>
          <a:ln/>
        </p:spPr>
      </p:sp>
      <p:sp>
        <p:nvSpPr>
          <p:cNvPr id="3" name="Text 1"/>
          <p:cNvSpPr txBox="1"/>
          <p:nvPr/>
        </p:nvSpPr>
        <p:spPr>
          <a:xfrm>
            <a:off x="640080" y="502920"/>
            <a:ext cx="128016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OBJECTIVE</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Why we ran this analysis</a:t>
            </a:r>
            <a:endParaRPr lang="en-US" sz="2800" dirty="0"/>
          </a:p>
        </p:txBody>
      </p:sp>
      <p:sp>
        <p:nvSpPr>
          <p:cNvPr id="5" name="Text 3"/>
          <p:cNvSpPr txBox="1"/>
          <p:nvPr/>
        </p:nvSpPr>
        <p:spPr>
          <a:xfrm>
            <a:off x="640080" y="1691640"/>
            <a:ext cx="6675120" cy="2194560"/>
          </a:xfrm>
          <a:prstGeom prst="rect">
            <a:avLst/>
          </a:prstGeom>
          <a:noFill/>
          <a:ln/>
        </p:spPr>
        <p:txBody>
          <a:bodyPr wrap="square" lIns="0" tIns="0" rIns="0" bIns="0" rtlCol="0" anchor="ctr"/>
          <a:lstStyle/>
          <a:p>
            <a:pPr indent="0" marL="0">
              <a:lnSpc>
                <a:spcPct val="130000"/>
              </a:lnSpc>
              <a:buNone/>
            </a:pPr>
            <a:r>
              <a:rPr lang="en-US" sz="1500" dirty="0">
                <a:solidFill>
                  <a:srgbClr val="1B2430"/>
                </a:solidFill>
                <a:latin typeface="Calibri" pitchFamily="34" charset="0"/>
                <a:ea typeface="Calibri" pitchFamily="34" charset="-122"/>
                <a:cs typeface="Calibri" pitchFamily="34" charset="-120"/>
              </a:rPr>
              <a:t>Retail businesses generate large volumes of transaction data every day, but raw data alone doesn't drive decisions. This project explores 100,000 retail transactions to uncover patterns in customer behavior, pricing, and returns — turning raw records into clear, actionable business insights.</a:t>
            </a:r>
            <a:endParaRPr lang="en-US" sz="1500" dirty="0"/>
          </a:p>
        </p:txBody>
      </p:sp>
      <p:sp>
        <p:nvSpPr>
          <p:cNvPr id="6" name="Shape 4"/>
          <p:cNvSpPr/>
          <p:nvPr/>
        </p:nvSpPr>
        <p:spPr>
          <a:xfrm>
            <a:off x="7635240" y="1746504"/>
            <a:ext cx="128016" cy="128016"/>
          </a:xfrm>
          <a:prstGeom prst="ellipse">
            <a:avLst/>
          </a:prstGeom>
          <a:solidFill>
            <a:srgbClr val="3AA0FF"/>
          </a:solidFill>
          <a:ln/>
        </p:spPr>
      </p:sp>
      <p:sp>
        <p:nvSpPr>
          <p:cNvPr id="7" name="Text 5"/>
          <p:cNvSpPr txBox="1"/>
          <p:nvPr/>
        </p:nvSpPr>
        <p:spPr>
          <a:xfrm>
            <a:off x="7909560" y="1618488"/>
            <a:ext cx="3749040" cy="45720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Understand who the customers are and how they shop</a:t>
            </a:r>
            <a:endParaRPr lang="en-US" sz="1250" dirty="0"/>
          </a:p>
        </p:txBody>
      </p:sp>
      <p:sp>
        <p:nvSpPr>
          <p:cNvPr id="8" name="Shape 6"/>
          <p:cNvSpPr/>
          <p:nvPr/>
        </p:nvSpPr>
        <p:spPr>
          <a:xfrm>
            <a:off x="7635240" y="2313432"/>
            <a:ext cx="128016" cy="128016"/>
          </a:xfrm>
          <a:prstGeom prst="ellipse">
            <a:avLst/>
          </a:prstGeom>
          <a:solidFill>
            <a:srgbClr val="3AA0FF"/>
          </a:solidFill>
          <a:ln/>
        </p:spPr>
      </p:sp>
      <p:sp>
        <p:nvSpPr>
          <p:cNvPr id="9" name="Text 7"/>
          <p:cNvSpPr txBox="1"/>
          <p:nvPr/>
        </p:nvSpPr>
        <p:spPr>
          <a:xfrm>
            <a:off x="7909560" y="2185416"/>
            <a:ext cx="3749040" cy="45720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Identify what drives final transaction value</a:t>
            </a:r>
            <a:endParaRPr lang="en-US" sz="1250" dirty="0"/>
          </a:p>
        </p:txBody>
      </p:sp>
      <p:sp>
        <p:nvSpPr>
          <p:cNvPr id="10" name="Shape 8"/>
          <p:cNvSpPr/>
          <p:nvPr/>
        </p:nvSpPr>
        <p:spPr>
          <a:xfrm>
            <a:off x="7635240" y="2880360"/>
            <a:ext cx="128016" cy="128016"/>
          </a:xfrm>
          <a:prstGeom prst="ellipse">
            <a:avLst/>
          </a:prstGeom>
          <a:solidFill>
            <a:srgbClr val="3AA0FF"/>
          </a:solidFill>
          <a:ln/>
        </p:spPr>
      </p:sp>
      <p:sp>
        <p:nvSpPr>
          <p:cNvPr id="11" name="Text 9"/>
          <p:cNvSpPr txBox="1"/>
          <p:nvPr/>
        </p:nvSpPr>
        <p:spPr>
          <a:xfrm>
            <a:off x="7909560" y="2752344"/>
            <a:ext cx="3749040" cy="45720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Detect and explain unusual/outlier transactions</a:t>
            </a:r>
            <a:endParaRPr lang="en-US" sz="1250" dirty="0"/>
          </a:p>
        </p:txBody>
      </p:sp>
      <p:sp>
        <p:nvSpPr>
          <p:cNvPr id="12" name="Shape 10"/>
          <p:cNvSpPr/>
          <p:nvPr/>
        </p:nvSpPr>
        <p:spPr>
          <a:xfrm>
            <a:off x="7635240" y="3447288"/>
            <a:ext cx="128016" cy="128016"/>
          </a:xfrm>
          <a:prstGeom prst="ellipse">
            <a:avLst/>
          </a:prstGeom>
          <a:solidFill>
            <a:srgbClr val="3AA0FF"/>
          </a:solidFill>
          <a:ln/>
        </p:spPr>
      </p:sp>
      <p:sp>
        <p:nvSpPr>
          <p:cNvPr id="13" name="Text 11"/>
          <p:cNvSpPr txBox="1"/>
          <p:nvPr/>
        </p:nvSpPr>
        <p:spPr>
          <a:xfrm>
            <a:off x="7909560" y="3319272"/>
            <a:ext cx="3749040" cy="45720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Uncover where returns and inefficiencies occur</a:t>
            </a:r>
            <a:endParaRPr lang="en-US" sz="1250" dirty="0"/>
          </a:p>
        </p:txBody>
      </p:sp>
      <p:sp>
        <p:nvSpPr>
          <p:cNvPr id="14" name="Shape 12"/>
          <p:cNvSpPr/>
          <p:nvPr/>
        </p:nvSpPr>
        <p:spPr>
          <a:xfrm>
            <a:off x="7635240" y="4014216"/>
            <a:ext cx="128016" cy="128016"/>
          </a:xfrm>
          <a:prstGeom prst="ellipse">
            <a:avLst/>
          </a:prstGeom>
          <a:solidFill>
            <a:srgbClr val="3AA0FF"/>
          </a:solidFill>
          <a:ln/>
        </p:spPr>
      </p:sp>
      <p:sp>
        <p:nvSpPr>
          <p:cNvPr id="15" name="Text 13"/>
          <p:cNvSpPr txBox="1"/>
          <p:nvPr/>
        </p:nvSpPr>
        <p:spPr>
          <a:xfrm>
            <a:off x="7909560" y="3886200"/>
            <a:ext cx="3749040" cy="45720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Translate findings into growth recommendations</a:t>
            </a:r>
            <a:endParaRPr lang="en-US" sz="1250" dirty="0"/>
          </a:p>
        </p:txBody>
      </p:sp>
      <p:sp>
        <p:nvSpPr>
          <p:cNvPr id="16" name="Text 14"/>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17" name="Text 15"/>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097280" cy="320040"/>
          </a:xfrm>
          <a:prstGeom prst="roundRect">
            <a:avLst>
              <a:gd name="adj" fmla="val 22857"/>
            </a:avLst>
          </a:prstGeom>
          <a:solidFill>
            <a:srgbClr val="2C3E50"/>
          </a:solidFill>
          <a:ln/>
        </p:spPr>
      </p:sp>
      <p:sp>
        <p:nvSpPr>
          <p:cNvPr id="3" name="Text 1"/>
          <p:cNvSpPr txBox="1"/>
          <p:nvPr/>
        </p:nvSpPr>
        <p:spPr>
          <a:xfrm>
            <a:off x="640080" y="502920"/>
            <a:ext cx="109728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DATASET</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A large, clean transactional dataset</a:t>
            </a:r>
            <a:endParaRPr lang="en-US" sz="2800" dirty="0"/>
          </a:p>
        </p:txBody>
      </p:sp>
      <p:sp>
        <p:nvSpPr>
          <p:cNvPr id="5" name="Shape 3"/>
          <p:cNvSpPr/>
          <p:nvPr/>
        </p:nvSpPr>
        <p:spPr>
          <a:xfrm>
            <a:off x="640080" y="1828800"/>
            <a:ext cx="2542032" cy="1371600"/>
          </a:xfrm>
          <a:prstGeom prst="roundRect">
            <a:avLst>
              <a:gd name="adj" fmla="val 5333"/>
            </a:avLst>
          </a:prstGeom>
          <a:solidFill>
            <a:srgbClr val="F5F7FA"/>
          </a:solidFill>
          <a:ln w="9525">
            <a:solidFill>
              <a:srgbClr val="D8DEE7"/>
            </a:solidFill>
            <a:prstDash val="solid"/>
          </a:ln>
        </p:spPr>
      </p:sp>
      <p:sp>
        <p:nvSpPr>
          <p:cNvPr id="6" name="Text 4"/>
          <p:cNvSpPr txBox="1"/>
          <p:nvPr/>
        </p:nvSpPr>
        <p:spPr>
          <a:xfrm>
            <a:off x="777240" y="1938528"/>
            <a:ext cx="2267712" cy="754380"/>
          </a:xfrm>
          <a:prstGeom prst="rect">
            <a:avLst/>
          </a:prstGeom>
          <a:noFill/>
          <a:ln/>
        </p:spPr>
        <p:txBody>
          <a:bodyPr wrap="square" lIns="0" tIns="0" rIns="0" bIns="0" rtlCol="0" anchor="ctr"/>
          <a:lstStyle/>
          <a:p>
            <a:pPr algn="l" indent="0" marL="0">
              <a:buNone/>
            </a:pPr>
            <a:r>
              <a:rPr lang="en-US" sz="3000" b="1" dirty="0">
                <a:solidFill>
                  <a:srgbClr val="2C3E50"/>
                </a:solidFill>
                <a:latin typeface="Cambria" pitchFamily="34" charset="0"/>
                <a:ea typeface="Cambria" pitchFamily="34" charset="-122"/>
                <a:cs typeface="Cambria" pitchFamily="34" charset="-120"/>
              </a:rPr>
              <a:t>100,000</a:t>
            </a:r>
            <a:endParaRPr lang="en-US" sz="3000" dirty="0"/>
          </a:p>
        </p:txBody>
      </p:sp>
      <p:sp>
        <p:nvSpPr>
          <p:cNvPr id="7" name="Text 5"/>
          <p:cNvSpPr txBox="1"/>
          <p:nvPr/>
        </p:nvSpPr>
        <p:spPr>
          <a:xfrm>
            <a:off x="777240" y="2651760"/>
            <a:ext cx="2267712" cy="521208"/>
          </a:xfrm>
          <a:prstGeom prst="rect">
            <a:avLst/>
          </a:prstGeom>
          <a:noFill/>
          <a:ln/>
        </p:spPr>
        <p:txBody>
          <a:bodyPr wrap="square" lIns="0" tIns="0" rIns="0" bIns="0" rtlCol="0" anchor="ctr"/>
          <a:lstStyle/>
          <a:p>
            <a:pPr algn="l" indent="0" marL="0">
              <a:buNone/>
            </a:pPr>
            <a:r>
              <a:rPr lang="en-US" sz="1150" dirty="0">
                <a:solidFill>
                  <a:srgbClr val="5B6472"/>
                </a:solidFill>
                <a:latin typeface="Calibri" pitchFamily="34" charset="0"/>
                <a:ea typeface="Calibri" pitchFamily="34" charset="-122"/>
                <a:cs typeface="Calibri" pitchFamily="34" charset="-120"/>
              </a:rPr>
              <a:t>Transaction records</a:t>
            </a:r>
            <a:endParaRPr lang="en-US" sz="1150" dirty="0"/>
          </a:p>
        </p:txBody>
      </p:sp>
      <p:sp>
        <p:nvSpPr>
          <p:cNvPr id="8" name="Shape 6"/>
          <p:cNvSpPr/>
          <p:nvPr/>
        </p:nvSpPr>
        <p:spPr>
          <a:xfrm>
            <a:off x="3410712" y="1828800"/>
            <a:ext cx="2542032" cy="1371600"/>
          </a:xfrm>
          <a:prstGeom prst="roundRect">
            <a:avLst>
              <a:gd name="adj" fmla="val 5333"/>
            </a:avLst>
          </a:prstGeom>
          <a:solidFill>
            <a:srgbClr val="F5F7FA"/>
          </a:solidFill>
          <a:ln w="9525">
            <a:solidFill>
              <a:srgbClr val="D8DEE7"/>
            </a:solidFill>
            <a:prstDash val="solid"/>
          </a:ln>
        </p:spPr>
      </p:sp>
      <p:sp>
        <p:nvSpPr>
          <p:cNvPr id="9" name="Text 7"/>
          <p:cNvSpPr txBox="1"/>
          <p:nvPr/>
        </p:nvSpPr>
        <p:spPr>
          <a:xfrm>
            <a:off x="3547872" y="1938528"/>
            <a:ext cx="2267712" cy="754380"/>
          </a:xfrm>
          <a:prstGeom prst="rect">
            <a:avLst/>
          </a:prstGeom>
          <a:noFill/>
          <a:ln/>
        </p:spPr>
        <p:txBody>
          <a:bodyPr wrap="square" lIns="0" tIns="0" rIns="0" bIns="0" rtlCol="0" anchor="ctr"/>
          <a:lstStyle/>
          <a:p>
            <a:pPr algn="l" indent="0" marL="0">
              <a:buNone/>
            </a:pPr>
            <a:r>
              <a:rPr lang="en-US" sz="3000" b="1" dirty="0">
                <a:solidFill>
                  <a:srgbClr val="2C3E50"/>
                </a:solidFill>
                <a:latin typeface="Cambria" pitchFamily="34" charset="0"/>
                <a:ea typeface="Cambria" pitchFamily="34" charset="-122"/>
                <a:cs typeface="Cambria" pitchFamily="34" charset="-120"/>
              </a:rPr>
              <a:t>18</a:t>
            </a:r>
            <a:endParaRPr lang="en-US" sz="3000" dirty="0"/>
          </a:p>
        </p:txBody>
      </p:sp>
      <p:sp>
        <p:nvSpPr>
          <p:cNvPr id="10" name="Text 8"/>
          <p:cNvSpPr txBox="1"/>
          <p:nvPr/>
        </p:nvSpPr>
        <p:spPr>
          <a:xfrm>
            <a:off x="3547872" y="2651760"/>
            <a:ext cx="2267712" cy="521208"/>
          </a:xfrm>
          <a:prstGeom prst="rect">
            <a:avLst/>
          </a:prstGeom>
          <a:noFill/>
          <a:ln/>
        </p:spPr>
        <p:txBody>
          <a:bodyPr wrap="square" lIns="0" tIns="0" rIns="0" bIns="0" rtlCol="0" anchor="ctr"/>
          <a:lstStyle/>
          <a:p>
            <a:pPr algn="l" indent="0" marL="0">
              <a:buNone/>
            </a:pPr>
            <a:r>
              <a:rPr lang="en-US" sz="1150" dirty="0">
                <a:solidFill>
                  <a:srgbClr val="5B6472"/>
                </a:solidFill>
                <a:latin typeface="Calibri" pitchFamily="34" charset="0"/>
                <a:ea typeface="Calibri" pitchFamily="34" charset="-122"/>
                <a:cs typeface="Calibri" pitchFamily="34" charset="-120"/>
              </a:rPr>
              <a:t>Variables tracked</a:t>
            </a:r>
            <a:endParaRPr lang="en-US" sz="1150" dirty="0"/>
          </a:p>
        </p:txBody>
      </p:sp>
      <p:sp>
        <p:nvSpPr>
          <p:cNvPr id="11" name="Shape 9"/>
          <p:cNvSpPr/>
          <p:nvPr/>
        </p:nvSpPr>
        <p:spPr>
          <a:xfrm>
            <a:off x="6181344" y="1828800"/>
            <a:ext cx="2542032" cy="1371600"/>
          </a:xfrm>
          <a:prstGeom prst="roundRect">
            <a:avLst>
              <a:gd name="adj" fmla="val 5333"/>
            </a:avLst>
          </a:prstGeom>
          <a:solidFill>
            <a:srgbClr val="F5F7FA"/>
          </a:solidFill>
          <a:ln w="9525">
            <a:solidFill>
              <a:srgbClr val="D8DEE7"/>
            </a:solidFill>
            <a:prstDash val="solid"/>
          </a:ln>
        </p:spPr>
      </p:sp>
      <p:sp>
        <p:nvSpPr>
          <p:cNvPr id="12" name="Text 10"/>
          <p:cNvSpPr txBox="1"/>
          <p:nvPr/>
        </p:nvSpPr>
        <p:spPr>
          <a:xfrm>
            <a:off x="6318504" y="1938528"/>
            <a:ext cx="2267712" cy="754380"/>
          </a:xfrm>
          <a:prstGeom prst="rect">
            <a:avLst/>
          </a:prstGeom>
          <a:noFill/>
          <a:ln/>
        </p:spPr>
        <p:txBody>
          <a:bodyPr wrap="square" lIns="0" tIns="0" rIns="0" bIns="0" rtlCol="0" anchor="ctr"/>
          <a:lstStyle/>
          <a:p>
            <a:pPr algn="l" indent="0" marL="0">
              <a:buNone/>
            </a:pPr>
            <a:r>
              <a:rPr lang="en-US" sz="3000" b="1" dirty="0">
                <a:solidFill>
                  <a:srgbClr val="2C3E50"/>
                </a:solidFill>
                <a:latin typeface="Cambria" pitchFamily="34" charset="0"/>
                <a:ea typeface="Cambria" pitchFamily="34" charset="-122"/>
                <a:cs typeface="Cambria" pitchFamily="34" charset="-120"/>
              </a:rPr>
              <a:t>0</a:t>
            </a:r>
            <a:endParaRPr lang="en-US" sz="3000" dirty="0"/>
          </a:p>
        </p:txBody>
      </p:sp>
      <p:sp>
        <p:nvSpPr>
          <p:cNvPr id="13" name="Text 11"/>
          <p:cNvSpPr txBox="1"/>
          <p:nvPr/>
        </p:nvSpPr>
        <p:spPr>
          <a:xfrm>
            <a:off x="6318504" y="2651760"/>
            <a:ext cx="2267712" cy="521208"/>
          </a:xfrm>
          <a:prstGeom prst="rect">
            <a:avLst/>
          </a:prstGeom>
          <a:noFill/>
          <a:ln/>
        </p:spPr>
        <p:txBody>
          <a:bodyPr wrap="square" lIns="0" tIns="0" rIns="0" bIns="0" rtlCol="0" anchor="ctr"/>
          <a:lstStyle/>
          <a:p>
            <a:pPr algn="l" indent="0" marL="0">
              <a:buNone/>
            </a:pPr>
            <a:r>
              <a:rPr lang="en-US" sz="1150" dirty="0">
                <a:solidFill>
                  <a:srgbClr val="5B6472"/>
                </a:solidFill>
                <a:latin typeface="Calibri" pitchFamily="34" charset="0"/>
                <a:ea typeface="Calibri" pitchFamily="34" charset="-122"/>
                <a:cs typeface="Calibri" pitchFamily="34" charset="-120"/>
              </a:rPr>
              <a:t>Missing values</a:t>
            </a:r>
            <a:endParaRPr lang="en-US" sz="1150" dirty="0"/>
          </a:p>
        </p:txBody>
      </p:sp>
      <p:sp>
        <p:nvSpPr>
          <p:cNvPr id="14" name="Text 12"/>
          <p:cNvSpPr txBox="1"/>
          <p:nvPr/>
        </p:nvSpPr>
        <p:spPr>
          <a:xfrm>
            <a:off x="640080" y="3520440"/>
            <a:ext cx="5486400"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Column groups</a:t>
            </a:r>
            <a:endParaRPr lang="en-US" sz="1400" dirty="0"/>
          </a:p>
        </p:txBody>
      </p:sp>
      <p:sp>
        <p:nvSpPr>
          <p:cNvPr id="15" name="Shape 13"/>
          <p:cNvSpPr/>
          <p:nvPr/>
        </p:nvSpPr>
        <p:spPr>
          <a:xfrm>
            <a:off x="640080" y="3977640"/>
            <a:ext cx="146304" cy="146304"/>
          </a:xfrm>
          <a:prstGeom prst="roundRect">
            <a:avLst>
              <a:gd name="adj" fmla="val 18750"/>
            </a:avLst>
          </a:prstGeom>
          <a:solidFill>
            <a:srgbClr val="3AA0FF"/>
          </a:solidFill>
          <a:ln/>
        </p:spPr>
      </p:sp>
      <p:sp>
        <p:nvSpPr>
          <p:cNvPr id="16" name="Text 14"/>
          <p:cNvSpPr txBox="1"/>
          <p:nvPr/>
        </p:nvSpPr>
        <p:spPr>
          <a:xfrm>
            <a:off x="914400" y="3886200"/>
            <a:ext cx="1463040" cy="36576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Customer:</a:t>
            </a:r>
            <a:endParaRPr lang="en-US" sz="1250" dirty="0"/>
          </a:p>
        </p:txBody>
      </p:sp>
      <p:sp>
        <p:nvSpPr>
          <p:cNvPr id="17" name="Text 15"/>
          <p:cNvSpPr txBox="1"/>
          <p:nvPr/>
        </p:nvSpPr>
        <p:spPr>
          <a:xfrm>
            <a:off x="2377440" y="3886200"/>
            <a:ext cx="6217920" cy="36576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customer_id, age, gender, city, state, segment</a:t>
            </a:r>
            <a:endParaRPr lang="en-US" sz="1200" dirty="0"/>
          </a:p>
        </p:txBody>
      </p:sp>
      <p:sp>
        <p:nvSpPr>
          <p:cNvPr id="18" name="Shape 16"/>
          <p:cNvSpPr/>
          <p:nvPr/>
        </p:nvSpPr>
        <p:spPr>
          <a:xfrm>
            <a:off x="640080" y="4434840"/>
            <a:ext cx="146304" cy="146304"/>
          </a:xfrm>
          <a:prstGeom prst="roundRect">
            <a:avLst>
              <a:gd name="adj" fmla="val 18750"/>
            </a:avLst>
          </a:prstGeom>
          <a:solidFill>
            <a:srgbClr val="3AA0FF"/>
          </a:solidFill>
          <a:ln/>
        </p:spPr>
      </p:sp>
      <p:sp>
        <p:nvSpPr>
          <p:cNvPr id="19" name="Text 17"/>
          <p:cNvSpPr txBox="1"/>
          <p:nvPr/>
        </p:nvSpPr>
        <p:spPr>
          <a:xfrm>
            <a:off x="914400" y="4343400"/>
            <a:ext cx="1463040" cy="36576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Order:</a:t>
            </a:r>
            <a:endParaRPr lang="en-US" sz="1250" dirty="0"/>
          </a:p>
        </p:txBody>
      </p:sp>
      <p:sp>
        <p:nvSpPr>
          <p:cNvPr id="20" name="Text 18"/>
          <p:cNvSpPr txBox="1"/>
          <p:nvPr/>
        </p:nvSpPr>
        <p:spPr>
          <a:xfrm>
            <a:off x="2377440" y="4343400"/>
            <a:ext cx="6217920" cy="36576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order_id, order_date, payment_method</a:t>
            </a:r>
            <a:endParaRPr lang="en-US" sz="1200" dirty="0"/>
          </a:p>
        </p:txBody>
      </p:sp>
      <p:sp>
        <p:nvSpPr>
          <p:cNvPr id="21" name="Shape 19"/>
          <p:cNvSpPr/>
          <p:nvPr/>
        </p:nvSpPr>
        <p:spPr>
          <a:xfrm>
            <a:off x="640080" y="4892040"/>
            <a:ext cx="146304" cy="146304"/>
          </a:xfrm>
          <a:prstGeom prst="roundRect">
            <a:avLst>
              <a:gd name="adj" fmla="val 18750"/>
            </a:avLst>
          </a:prstGeom>
          <a:solidFill>
            <a:srgbClr val="3AA0FF"/>
          </a:solidFill>
          <a:ln/>
        </p:spPr>
      </p:sp>
      <p:sp>
        <p:nvSpPr>
          <p:cNvPr id="22" name="Text 20"/>
          <p:cNvSpPr txBox="1"/>
          <p:nvPr/>
        </p:nvSpPr>
        <p:spPr>
          <a:xfrm>
            <a:off x="914400" y="4800600"/>
            <a:ext cx="1463040" cy="36576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Product:</a:t>
            </a:r>
            <a:endParaRPr lang="en-US" sz="1250" dirty="0"/>
          </a:p>
        </p:txBody>
      </p:sp>
      <p:sp>
        <p:nvSpPr>
          <p:cNvPr id="23" name="Text 21"/>
          <p:cNvSpPr txBox="1"/>
          <p:nvPr/>
        </p:nvSpPr>
        <p:spPr>
          <a:xfrm>
            <a:off x="2377440" y="4800600"/>
            <a:ext cx="6217920" cy="36576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category, subcategory, price, quantity, discount</a:t>
            </a:r>
            <a:endParaRPr lang="en-US" sz="1200" dirty="0"/>
          </a:p>
        </p:txBody>
      </p:sp>
      <p:sp>
        <p:nvSpPr>
          <p:cNvPr id="24" name="Shape 22"/>
          <p:cNvSpPr/>
          <p:nvPr/>
        </p:nvSpPr>
        <p:spPr>
          <a:xfrm>
            <a:off x="640080" y="5349240"/>
            <a:ext cx="146304" cy="146304"/>
          </a:xfrm>
          <a:prstGeom prst="roundRect">
            <a:avLst>
              <a:gd name="adj" fmla="val 18750"/>
            </a:avLst>
          </a:prstGeom>
          <a:solidFill>
            <a:srgbClr val="3AA0FF"/>
          </a:solidFill>
          <a:ln/>
        </p:spPr>
      </p:sp>
      <p:sp>
        <p:nvSpPr>
          <p:cNvPr id="25" name="Text 23"/>
          <p:cNvSpPr txBox="1"/>
          <p:nvPr/>
        </p:nvSpPr>
        <p:spPr>
          <a:xfrm>
            <a:off x="914400" y="5257800"/>
            <a:ext cx="1463040" cy="36576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Fulfillment:</a:t>
            </a:r>
            <a:endParaRPr lang="en-US" sz="1250" dirty="0"/>
          </a:p>
        </p:txBody>
      </p:sp>
      <p:sp>
        <p:nvSpPr>
          <p:cNvPr id="26" name="Text 24"/>
          <p:cNvSpPr txBox="1"/>
          <p:nvPr/>
        </p:nvSpPr>
        <p:spPr>
          <a:xfrm>
            <a:off x="2377440" y="5257800"/>
            <a:ext cx="6217920" cy="36576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final_price, shipping_type, delivery_days, return_status</a:t>
            </a:r>
            <a:endParaRPr lang="en-US" sz="1200" dirty="0"/>
          </a:p>
        </p:txBody>
      </p:sp>
      <p:sp>
        <p:nvSpPr>
          <p:cNvPr id="27" name="Shape 25"/>
          <p:cNvSpPr/>
          <p:nvPr/>
        </p:nvSpPr>
        <p:spPr>
          <a:xfrm>
            <a:off x="8915400" y="1828800"/>
            <a:ext cx="2606040" cy="4023360"/>
          </a:xfrm>
          <a:prstGeom prst="roundRect">
            <a:avLst>
              <a:gd name="adj" fmla="val 3509"/>
            </a:avLst>
          </a:prstGeom>
          <a:solidFill>
            <a:srgbClr val="F5F7FA"/>
          </a:solidFill>
          <a:ln w="9525">
            <a:solidFill>
              <a:srgbClr val="D8DEE7"/>
            </a:solidFill>
            <a:prstDash val="solid"/>
          </a:ln>
        </p:spPr>
      </p:sp>
      <p:sp>
        <p:nvSpPr>
          <p:cNvPr id="28" name="Text 26"/>
          <p:cNvSpPr txBox="1"/>
          <p:nvPr/>
        </p:nvSpPr>
        <p:spPr>
          <a:xfrm>
            <a:off x="9098280" y="2011680"/>
            <a:ext cx="2286000" cy="274320"/>
          </a:xfrm>
          <a:prstGeom prst="rect">
            <a:avLst/>
          </a:prstGeom>
          <a:noFill/>
          <a:ln/>
        </p:spPr>
        <p:txBody>
          <a:bodyPr wrap="square" lIns="0" tIns="0" rIns="0" bIns="0" rtlCol="0" anchor="ctr"/>
          <a:lstStyle/>
          <a:p>
            <a:pPr indent="0" marL="0">
              <a:buNone/>
            </a:pPr>
            <a:r>
              <a:rPr lang="en-US" sz="1000" b="1" spc="100" kern="0" dirty="0">
                <a:solidFill>
                  <a:srgbClr val="3AA0FF"/>
                </a:solidFill>
                <a:latin typeface="Calibri" pitchFamily="34" charset="0"/>
                <a:ea typeface="Calibri" pitchFamily="34" charset="-122"/>
                <a:cs typeface="Calibri" pitchFamily="34" charset="-120"/>
              </a:rPr>
              <a:t>DATA QUALITY</a:t>
            </a:r>
            <a:endParaRPr lang="en-US" sz="1000" dirty="0"/>
          </a:p>
        </p:txBody>
      </p:sp>
      <p:sp>
        <p:nvSpPr>
          <p:cNvPr id="29" name="Text 27"/>
          <p:cNvSpPr txBox="1"/>
          <p:nvPr/>
        </p:nvSpPr>
        <p:spPr>
          <a:xfrm>
            <a:off x="9098280" y="2377440"/>
            <a:ext cx="2286000" cy="2011680"/>
          </a:xfrm>
          <a:prstGeom prst="rect">
            <a:avLst/>
          </a:prstGeom>
          <a:noFill/>
          <a:ln/>
        </p:spPr>
        <p:txBody>
          <a:bodyPr wrap="square" lIns="0" tIns="0" rIns="0" bIns="0" rtlCol="0" anchor="ctr"/>
          <a:lstStyle/>
          <a:p>
            <a:pPr indent="0" marL="0">
              <a:lnSpc>
                <a:spcPct val="125000"/>
              </a:lnSpc>
              <a:buNone/>
            </a:pPr>
            <a:r>
              <a:rPr lang="en-US" sz="1150" dirty="0">
                <a:solidFill>
                  <a:srgbClr val="1B2430"/>
                </a:solidFill>
                <a:latin typeface="Calibri" pitchFamily="34" charset="0"/>
                <a:ea typeface="Calibri" pitchFamily="34" charset="-122"/>
                <a:cs typeface="Calibri" pitchFamily="34" charset="-120"/>
              </a:rPr>
              <a:t>100% complete — every one of the 18 columns has 100,000 non-null entries. No imputation or null-handling required before analysis.</a:t>
            </a:r>
            <a:endParaRPr lang="en-US" sz="1150" dirty="0"/>
          </a:p>
          <a:p>
            <a:pPr indent="0" marL="0">
              <a:lnSpc>
                <a:spcPct val="125000"/>
              </a:lnSpc>
              <a:buNone/>
            </a:pPr>
            <a:endParaRPr lang="en-US" sz="1150" dirty="0"/>
          </a:p>
          <a:p>
            <a:pPr indent="0" marL="0">
              <a:lnSpc>
                <a:spcPct val="125000"/>
              </a:lnSpc>
              <a:buNone/>
            </a:pPr>
            <a:r>
              <a:rPr lang="en-US" sz="1150" dirty="0">
                <a:solidFill>
                  <a:srgbClr val="1B2430"/>
                </a:solidFill>
                <a:latin typeface="Calibri" pitchFamily="34" charset="0"/>
                <a:ea typeface="Calibri" pitchFamily="34" charset="-122"/>
                <a:cs typeface="Calibri" pitchFamily="34" charset="-120"/>
              </a:rPr>
              <a:t>Order dates span 2023–2025.</a:t>
            </a:r>
            <a:endParaRPr lang="en-US" sz="1150" dirty="0"/>
          </a:p>
        </p:txBody>
      </p:sp>
      <p:sp>
        <p:nvSpPr>
          <p:cNvPr id="30" name="Text 28"/>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31" name="Text 29"/>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40080" y="502920"/>
            <a:ext cx="1188720" cy="320040"/>
          </a:xfrm>
          <a:prstGeom prst="roundRect">
            <a:avLst>
              <a:gd name="adj" fmla="val 22857"/>
            </a:avLst>
          </a:prstGeom>
          <a:solidFill>
            <a:srgbClr val="2C3E50"/>
          </a:solidFill>
          <a:ln/>
        </p:spPr>
      </p:sp>
      <p:sp>
        <p:nvSpPr>
          <p:cNvPr id="3" name="Text 1"/>
          <p:cNvSpPr txBox="1"/>
          <p:nvPr/>
        </p:nvSpPr>
        <p:spPr>
          <a:xfrm>
            <a:off x="640080" y="502920"/>
            <a:ext cx="118872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APPROACH</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Our analytical methodology</a:t>
            </a:r>
            <a:endParaRPr lang="en-US" sz="2800" dirty="0"/>
          </a:p>
        </p:txBody>
      </p:sp>
      <p:sp>
        <p:nvSpPr>
          <p:cNvPr id="5" name="Shape 3"/>
          <p:cNvSpPr/>
          <p:nvPr/>
        </p:nvSpPr>
        <p:spPr>
          <a:xfrm>
            <a:off x="1463040" y="3246120"/>
            <a:ext cx="1623060" cy="0"/>
          </a:xfrm>
          <a:prstGeom prst="line">
            <a:avLst/>
          </a:prstGeom>
          <a:noFill/>
          <a:ln w="25400">
            <a:solidFill>
              <a:srgbClr val="D8DEE7"/>
            </a:solidFill>
            <a:prstDash val="solid"/>
          </a:ln>
        </p:spPr>
      </p:sp>
      <p:sp>
        <p:nvSpPr>
          <p:cNvPr id="6" name="Shape 4"/>
          <p:cNvSpPr/>
          <p:nvPr/>
        </p:nvSpPr>
        <p:spPr>
          <a:xfrm>
            <a:off x="640080" y="2834640"/>
            <a:ext cx="822960" cy="822960"/>
          </a:xfrm>
          <a:prstGeom prst="ellipse">
            <a:avLst/>
          </a:prstGeom>
          <a:solidFill>
            <a:srgbClr val="2C3E50"/>
          </a:solidFill>
          <a:ln/>
        </p:spPr>
      </p:sp>
      <p:sp>
        <p:nvSpPr>
          <p:cNvPr id="7" name="Text 5"/>
          <p:cNvSpPr txBox="1"/>
          <p:nvPr/>
        </p:nvSpPr>
        <p:spPr>
          <a:xfrm>
            <a:off x="640080" y="28346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37160" y="3794760"/>
            <a:ext cx="1828800" cy="320040"/>
          </a:xfrm>
          <a:prstGeom prst="rect">
            <a:avLst/>
          </a:prstGeom>
          <a:noFill/>
          <a:ln/>
        </p:spPr>
        <p:txBody>
          <a:bodyPr wrap="square" lIns="0" tIns="0" rIns="0" bIns="0" rtlCol="0" anchor="ctr"/>
          <a:lstStyle/>
          <a:p>
            <a:pPr algn="ctr" indent="0" marL="0">
              <a:buNone/>
            </a:pPr>
            <a:r>
              <a:rPr lang="en-US" sz="1250" b="1" dirty="0">
                <a:solidFill>
                  <a:srgbClr val="1B2430"/>
                </a:solidFill>
                <a:latin typeface="Calibri" pitchFamily="34" charset="0"/>
                <a:ea typeface="Calibri" pitchFamily="34" charset="-122"/>
                <a:cs typeface="Calibri" pitchFamily="34" charset="-120"/>
              </a:rPr>
              <a:t>Univariate</a:t>
            </a:r>
            <a:endParaRPr lang="en-US" sz="1250" dirty="0"/>
          </a:p>
        </p:txBody>
      </p:sp>
      <p:sp>
        <p:nvSpPr>
          <p:cNvPr id="9" name="Text 7"/>
          <p:cNvSpPr txBox="1"/>
          <p:nvPr/>
        </p:nvSpPr>
        <p:spPr>
          <a:xfrm>
            <a:off x="45720" y="4114800"/>
            <a:ext cx="2011680" cy="54864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Distribution of each variable</a:t>
            </a:r>
            <a:endParaRPr lang="en-US" sz="1050" dirty="0"/>
          </a:p>
        </p:txBody>
      </p:sp>
      <p:sp>
        <p:nvSpPr>
          <p:cNvPr id="10" name="Shape 8"/>
          <p:cNvSpPr/>
          <p:nvPr/>
        </p:nvSpPr>
        <p:spPr>
          <a:xfrm>
            <a:off x="3909060" y="3246120"/>
            <a:ext cx="1623060" cy="0"/>
          </a:xfrm>
          <a:prstGeom prst="line">
            <a:avLst/>
          </a:prstGeom>
          <a:noFill/>
          <a:ln w="25400">
            <a:solidFill>
              <a:srgbClr val="D8DEE7"/>
            </a:solidFill>
            <a:prstDash val="solid"/>
          </a:ln>
        </p:spPr>
      </p:sp>
      <p:sp>
        <p:nvSpPr>
          <p:cNvPr id="11" name="Shape 9"/>
          <p:cNvSpPr/>
          <p:nvPr/>
        </p:nvSpPr>
        <p:spPr>
          <a:xfrm>
            <a:off x="3086100" y="2834640"/>
            <a:ext cx="822960" cy="822960"/>
          </a:xfrm>
          <a:prstGeom prst="ellipse">
            <a:avLst/>
          </a:prstGeom>
          <a:solidFill>
            <a:srgbClr val="2C3E50"/>
          </a:solidFill>
          <a:ln/>
        </p:spPr>
      </p:sp>
      <p:sp>
        <p:nvSpPr>
          <p:cNvPr id="12" name="Text 10"/>
          <p:cNvSpPr txBox="1"/>
          <p:nvPr/>
        </p:nvSpPr>
        <p:spPr>
          <a:xfrm>
            <a:off x="3086100" y="28346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txBox="1"/>
          <p:nvPr/>
        </p:nvSpPr>
        <p:spPr>
          <a:xfrm>
            <a:off x="2583180" y="3794760"/>
            <a:ext cx="1828800" cy="320040"/>
          </a:xfrm>
          <a:prstGeom prst="rect">
            <a:avLst/>
          </a:prstGeom>
          <a:noFill/>
          <a:ln/>
        </p:spPr>
        <p:txBody>
          <a:bodyPr wrap="square" lIns="0" tIns="0" rIns="0" bIns="0" rtlCol="0" anchor="ctr"/>
          <a:lstStyle/>
          <a:p>
            <a:pPr algn="ctr" indent="0" marL="0">
              <a:buNone/>
            </a:pPr>
            <a:r>
              <a:rPr lang="en-US" sz="1250" b="1" dirty="0">
                <a:solidFill>
                  <a:srgbClr val="1B2430"/>
                </a:solidFill>
                <a:latin typeface="Calibri" pitchFamily="34" charset="0"/>
                <a:ea typeface="Calibri" pitchFamily="34" charset="-122"/>
                <a:cs typeface="Calibri" pitchFamily="34" charset="-120"/>
              </a:rPr>
              <a:t>Bivariate</a:t>
            </a:r>
            <a:endParaRPr lang="en-US" sz="1250" dirty="0"/>
          </a:p>
        </p:txBody>
      </p:sp>
      <p:sp>
        <p:nvSpPr>
          <p:cNvPr id="14" name="Text 12"/>
          <p:cNvSpPr txBox="1"/>
          <p:nvPr/>
        </p:nvSpPr>
        <p:spPr>
          <a:xfrm>
            <a:off x="2491740" y="4114800"/>
            <a:ext cx="2011680" cy="54864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Relationships between pairs</a:t>
            </a:r>
            <a:endParaRPr lang="en-US" sz="1050" dirty="0"/>
          </a:p>
        </p:txBody>
      </p:sp>
      <p:sp>
        <p:nvSpPr>
          <p:cNvPr id="15" name="Shape 13"/>
          <p:cNvSpPr/>
          <p:nvPr/>
        </p:nvSpPr>
        <p:spPr>
          <a:xfrm>
            <a:off x="6355080" y="3246120"/>
            <a:ext cx="1623060" cy="0"/>
          </a:xfrm>
          <a:prstGeom prst="line">
            <a:avLst/>
          </a:prstGeom>
          <a:noFill/>
          <a:ln w="25400">
            <a:solidFill>
              <a:srgbClr val="D8DEE7"/>
            </a:solidFill>
            <a:prstDash val="solid"/>
          </a:ln>
        </p:spPr>
      </p:sp>
      <p:sp>
        <p:nvSpPr>
          <p:cNvPr id="16" name="Shape 14"/>
          <p:cNvSpPr/>
          <p:nvPr/>
        </p:nvSpPr>
        <p:spPr>
          <a:xfrm>
            <a:off x="5532120" y="2834640"/>
            <a:ext cx="822960" cy="822960"/>
          </a:xfrm>
          <a:prstGeom prst="ellipse">
            <a:avLst/>
          </a:prstGeom>
          <a:solidFill>
            <a:srgbClr val="2C3E50"/>
          </a:solidFill>
          <a:ln/>
        </p:spPr>
      </p:sp>
      <p:sp>
        <p:nvSpPr>
          <p:cNvPr id="17" name="Text 15"/>
          <p:cNvSpPr txBox="1"/>
          <p:nvPr/>
        </p:nvSpPr>
        <p:spPr>
          <a:xfrm>
            <a:off x="5532120" y="28346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6"/>
          <p:cNvSpPr txBox="1"/>
          <p:nvPr/>
        </p:nvSpPr>
        <p:spPr>
          <a:xfrm>
            <a:off x="5029200" y="3794760"/>
            <a:ext cx="1828800" cy="320040"/>
          </a:xfrm>
          <a:prstGeom prst="rect">
            <a:avLst/>
          </a:prstGeom>
          <a:noFill/>
          <a:ln/>
        </p:spPr>
        <p:txBody>
          <a:bodyPr wrap="square" lIns="0" tIns="0" rIns="0" bIns="0" rtlCol="0" anchor="ctr"/>
          <a:lstStyle/>
          <a:p>
            <a:pPr algn="ctr" indent="0" marL="0">
              <a:buNone/>
            </a:pPr>
            <a:r>
              <a:rPr lang="en-US" sz="1250" b="1" dirty="0">
                <a:solidFill>
                  <a:srgbClr val="1B2430"/>
                </a:solidFill>
                <a:latin typeface="Calibri" pitchFamily="34" charset="0"/>
                <a:ea typeface="Calibri" pitchFamily="34" charset="-122"/>
                <a:cs typeface="Calibri" pitchFamily="34" charset="-120"/>
              </a:rPr>
              <a:t>Correlation</a:t>
            </a:r>
            <a:endParaRPr lang="en-US" sz="1250" dirty="0"/>
          </a:p>
        </p:txBody>
      </p:sp>
      <p:sp>
        <p:nvSpPr>
          <p:cNvPr id="19" name="Text 17"/>
          <p:cNvSpPr txBox="1"/>
          <p:nvPr/>
        </p:nvSpPr>
        <p:spPr>
          <a:xfrm>
            <a:off x="4937760" y="4114800"/>
            <a:ext cx="2011680" cy="54864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Strength of numeric relationships</a:t>
            </a:r>
            <a:endParaRPr lang="en-US" sz="1050" dirty="0"/>
          </a:p>
        </p:txBody>
      </p:sp>
      <p:sp>
        <p:nvSpPr>
          <p:cNvPr id="20" name="Shape 18"/>
          <p:cNvSpPr/>
          <p:nvPr/>
        </p:nvSpPr>
        <p:spPr>
          <a:xfrm>
            <a:off x="8801100" y="3246120"/>
            <a:ext cx="1623060" cy="0"/>
          </a:xfrm>
          <a:prstGeom prst="line">
            <a:avLst/>
          </a:prstGeom>
          <a:noFill/>
          <a:ln w="25400">
            <a:solidFill>
              <a:srgbClr val="D8DEE7"/>
            </a:solidFill>
            <a:prstDash val="solid"/>
          </a:ln>
        </p:spPr>
      </p:sp>
      <p:sp>
        <p:nvSpPr>
          <p:cNvPr id="21" name="Shape 19"/>
          <p:cNvSpPr/>
          <p:nvPr/>
        </p:nvSpPr>
        <p:spPr>
          <a:xfrm>
            <a:off x="7978140" y="2834640"/>
            <a:ext cx="822960" cy="822960"/>
          </a:xfrm>
          <a:prstGeom prst="ellipse">
            <a:avLst/>
          </a:prstGeom>
          <a:solidFill>
            <a:srgbClr val="2C3E50"/>
          </a:solidFill>
          <a:ln/>
        </p:spPr>
      </p:sp>
      <p:sp>
        <p:nvSpPr>
          <p:cNvPr id="22" name="Text 20"/>
          <p:cNvSpPr txBox="1"/>
          <p:nvPr/>
        </p:nvSpPr>
        <p:spPr>
          <a:xfrm>
            <a:off x="7978140" y="28346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3" name="Text 21"/>
          <p:cNvSpPr txBox="1"/>
          <p:nvPr/>
        </p:nvSpPr>
        <p:spPr>
          <a:xfrm>
            <a:off x="7475220" y="3794760"/>
            <a:ext cx="1828800" cy="320040"/>
          </a:xfrm>
          <a:prstGeom prst="rect">
            <a:avLst/>
          </a:prstGeom>
          <a:noFill/>
          <a:ln/>
        </p:spPr>
        <p:txBody>
          <a:bodyPr wrap="square" lIns="0" tIns="0" rIns="0" bIns="0" rtlCol="0" anchor="ctr"/>
          <a:lstStyle/>
          <a:p>
            <a:pPr algn="ctr" indent="0" marL="0">
              <a:buNone/>
            </a:pPr>
            <a:r>
              <a:rPr lang="en-US" sz="1250" b="1" dirty="0">
                <a:solidFill>
                  <a:srgbClr val="1B2430"/>
                </a:solidFill>
                <a:latin typeface="Calibri" pitchFamily="34" charset="0"/>
                <a:ea typeface="Calibri" pitchFamily="34" charset="-122"/>
                <a:cs typeface="Calibri" pitchFamily="34" charset="-120"/>
              </a:rPr>
              <a:t>Outlier Detection</a:t>
            </a:r>
            <a:endParaRPr lang="en-US" sz="1250" dirty="0"/>
          </a:p>
        </p:txBody>
      </p:sp>
      <p:sp>
        <p:nvSpPr>
          <p:cNvPr id="24" name="Text 22"/>
          <p:cNvSpPr txBox="1"/>
          <p:nvPr/>
        </p:nvSpPr>
        <p:spPr>
          <a:xfrm>
            <a:off x="7383780" y="4114800"/>
            <a:ext cx="2011680" cy="54864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IQR &amp; Z-score screening</a:t>
            </a:r>
            <a:endParaRPr lang="en-US" sz="1050" dirty="0"/>
          </a:p>
        </p:txBody>
      </p:sp>
      <p:sp>
        <p:nvSpPr>
          <p:cNvPr id="25" name="Shape 23"/>
          <p:cNvSpPr/>
          <p:nvPr/>
        </p:nvSpPr>
        <p:spPr>
          <a:xfrm>
            <a:off x="10424160" y="2834640"/>
            <a:ext cx="822960" cy="822960"/>
          </a:xfrm>
          <a:prstGeom prst="ellipse">
            <a:avLst/>
          </a:prstGeom>
          <a:solidFill>
            <a:srgbClr val="2C3E50"/>
          </a:solidFill>
          <a:ln/>
        </p:spPr>
      </p:sp>
      <p:sp>
        <p:nvSpPr>
          <p:cNvPr id="26" name="Text 24"/>
          <p:cNvSpPr txBox="1"/>
          <p:nvPr/>
        </p:nvSpPr>
        <p:spPr>
          <a:xfrm>
            <a:off x="10424160" y="28346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7" name="Text 25"/>
          <p:cNvSpPr txBox="1"/>
          <p:nvPr/>
        </p:nvSpPr>
        <p:spPr>
          <a:xfrm>
            <a:off x="9921240" y="3794760"/>
            <a:ext cx="1828800" cy="320040"/>
          </a:xfrm>
          <a:prstGeom prst="rect">
            <a:avLst/>
          </a:prstGeom>
          <a:noFill/>
          <a:ln/>
        </p:spPr>
        <p:txBody>
          <a:bodyPr wrap="square" lIns="0" tIns="0" rIns="0" bIns="0" rtlCol="0" anchor="ctr"/>
          <a:lstStyle/>
          <a:p>
            <a:pPr algn="ctr" indent="0" marL="0">
              <a:buNone/>
            </a:pPr>
            <a:r>
              <a:rPr lang="en-US" sz="1250" b="1" dirty="0">
                <a:solidFill>
                  <a:srgbClr val="1B2430"/>
                </a:solidFill>
                <a:latin typeface="Calibri" pitchFamily="34" charset="0"/>
                <a:ea typeface="Calibri" pitchFamily="34" charset="-122"/>
                <a:cs typeface="Calibri" pitchFamily="34" charset="-120"/>
              </a:rPr>
              <a:t>Multivariate</a:t>
            </a:r>
            <a:endParaRPr lang="en-US" sz="1250" dirty="0"/>
          </a:p>
        </p:txBody>
      </p:sp>
      <p:sp>
        <p:nvSpPr>
          <p:cNvPr id="28" name="Text 26"/>
          <p:cNvSpPr txBox="1"/>
          <p:nvPr/>
        </p:nvSpPr>
        <p:spPr>
          <a:xfrm>
            <a:off x="9829800" y="4114800"/>
            <a:ext cx="2011680" cy="54864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Combined segment patterns</a:t>
            </a:r>
            <a:endParaRPr lang="en-US" sz="1050" dirty="0"/>
          </a:p>
        </p:txBody>
      </p:sp>
      <p:sp>
        <p:nvSpPr>
          <p:cNvPr id="29" name="Text 27"/>
          <p:cNvSpPr txBox="1"/>
          <p:nvPr/>
        </p:nvSpPr>
        <p:spPr>
          <a:xfrm>
            <a:off x="640080" y="5120640"/>
            <a:ext cx="10607040" cy="365760"/>
          </a:xfrm>
          <a:prstGeom prst="rect">
            <a:avLst/>
          </a:prstGeom>
          <a:noFill/>
          <a:ln/>
        </p:spPr>
        <p:txBody>
          <a:bodyPr wrap="square" lIns="0" tIns="0" rIns="0" bIns="0" rtlCol="0" anchor="ctr"/>
          <a:lstStyle/>
          <a:p>
            <a:pPr algn="ctr" indent="0" marL="0">
              <a:buNone/>
            </a:pPr>
            <a:r>
              <a:rPr lang="en-US" sz="1250" i="1" dirty="0">
                <a:solidFill>
                  <a:srgbClr val="5B6472"/>
                </a:solidFill>
                <a:latin typeface="Calibri" pitchFamily="34" charset="0"/>
                <a:ea typeface="Calibri" pitchFamily="34" charset="-122"/>
                <a:cs typeface="Calibri" pitchFamily="34" charset="-120"/>
              </a:rPr>
              <a:t>Tools used: Python • Pandas • NumPy • Seaborn / Matplotlib • SciPy (statistical testing)</a:t>
            </a:r>
            <a:endParaRPr lang="en-US" sz="1250" dirty="0"/>
          </a:p>
        </p:txBody>
      </p:sp>
      <p:sp>
        <p:nvSpPr>
          <p:cNvPr id="30" name="Text 28"/>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31" name="Text 29"/>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371600" cy="320040"/>
          </a:xfrm>
          <a:prstGeom prst="roundRect">
            <a:avLst>
              <a:gd name="adj" fmla="val 22857"/>
            </a:avLst>
          </a:prstGeom>
          <a:solidFill>
            <a:srgbClr val="2C3E50"/>
          </a:solidFill>
          <a:ln/>
        </p:spPr>
      </p:sp>
      <p:sp>
        <p:nvSpPr>
          <p:cNvPr id="3" name="Text 1"/>
          <p:cNvSpPr txBox="1"/>
          <p:nvPr/>
        </p:nvSpPr>
        <p:spPr>
          <a:xfrm>
            <a:off x="640080" y="502920"/>
            <a:ext cx="137160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UNIVARIATE</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Who are the customers?</a:t>
            </a:r>
            <a:endParaRPr lang="en-US" sz="2800" dirty="0"/>
          </a:p>
        </p:txBody>
      </p:sp>
      <p:graphicFrame>
        <p:nvGraphicFramePr>
          <p:cNvPr id="5" name="Chart 0" descr=""/>
          <p:cNvGraphicFramePr/>
          <p:nvPr/>
        </p:nvGraphicFramePr>
        <p:xfrm>
          <a:off x="640080" y="1783080"/>
          <a:ext cx="484632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52160" y="1783080"/>
            <a:ext cx="5394960" cy="1371600"/>
          </a:xfrm>
          <a:prstGeom prst="roundRect">
            <a:avLst>
              <a:gd name="adj" fmla="val 5333"/>
            </a:avLst>
          </a:prstGeom>
          <a:solidFill>
            <a:srgbClr val="F5F7FA"/>
          </a:solidFill>
          <a:ln w="9525">
            <a:solidFill>
              <a:srgbClr val="D8DEE7"/>
            </a:solidFill>
            <a:prstDash val="solid"/>
          </a:ln>
        </p:spPr>
      </p:sp>
      <p:sp>
        <p:nvSpPr>
          <p:cNvPr id="7" name="Text 4"/>
          <p:cNvSpPr txBox="1"/>
          <p:nvPr/>
        </p:nvSpPr>
        <p:spPr>
          <a:xfrm>
            <a:off x="6080760" y="1920240"/>
            <a:ext cx="4572000" cy="274320"/>
          </a:xfrm>
          <a:prstGeom prst="rect">
            <a:avLst/>
          </a:prstGeom>
          <a:noFill/>
          <a:ln/>
        </p:spPr>
        <p:txBody>
          <a:bodyPr wrap="square" lIns="0" tIns="0" rIns="0" bIns="0" rtlCol="0" anchor="ctr"/>
          <a:lstStyle/>
          <a:p>
            <a:pPr indent="0" marL="0">
              <a:buNone/>
            </a:pPr>
            <a:r>
              <a:rPr lang="en-US" sz="1000" b="1" spc="100" kern="0" dirty="0">
                <a:solidFill>
                  <a:srgbClr val="3AA0FF"/>
                </a:solidFill>
                <a:latin typeface="Calibri" pitchFamily="34" charset="0"/>
                <a:ea typeface="Calibri" pitchFamily="34" charset="-122"/>
                <a:cs typeface="Calibri" pitchFamily="34" charset="-120"/>
              </a:rPr>
              <a:t>AGE RANGE</a:t>
            </a:r>
            <a:endParaRPr lang="en-US" sz="1000" dirty="0"/>
          </a:p>
        </p:txBody>
      </p:sp>
      <p:sp>
        <p:nvSpPr>
          <p:cNvPr id="8" name="Text 5"/>
          <p:cNvSpPr txBox="1"/>
          <p:nvPr/>
        </p:nvSpPr>
        <p:spPr>
          <a:xfrm>
            <a:off x="6080760" y="2194560"/>
            <a:ext cx="4937760" cy="457200"/>
          </a:xfrm>
          <a:prstGeom prst="rect">
            <a:avLst/>
          </a:prstGeom>
          <a:noFill/>
          <a:ln/>
        </p:spPr>
        <p:txBody>
          <a:bodyPr wrap="square" lIns="0" tIns="0" rIns="0" bIns="0" rtlCol="0" anchor="ctr"/>
          <a:lstStyle/>
          <a:p>
            <a:pPr indent="0" marL="0">
              <a:buNone/>
            </a:pPr>
            <a:r>
              <a:rPr lang="en-US" sz="2400" b="1" dirty="0">
                <a:solidFill>
                  <a:srgbClr val="2C3E50"/>
                </a:solidFill>
                <a:latin typeface="Cambria" pitchFamily="34" charset="0"/>
                <a:ea typeface="Cambria" pitchFamily="34" charset="-122"/>
                <a:cs typeface="Cambria" pitchFamily="34" charset="-120"/>
              </a:rPr>
              <a:t>18 – 65 years</a:t>
            </a:r>
            <a:endParaRPr lang="en-US" sz="2400" dirty="0"/>
          </a:p>
        </p:txBody>
      </p:sp>
      <p:sp>
        <p:nvSpPr>
          <p:cNvPr id="9" name="Text 6"/>
          <p:cNvSpPr txBox="1"/>
          <p:nvPr/>
        </p:nvSpPr>
        <p:spPr>
          <a:xfrm>
            <a:off x="6080760" y="2697480"/>
            <a:ext cx="4937760" cy="36576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Uniformly distributed — no single age group dominates (skewness ≈ 0)</a:t>
            </a:r>
            <a:endParaRPr lang="en-US" sz="1100" dirty="0"/>
          </a:p>
        </p:txBody>
      </p:sp>
      <p:sp>
        <p:nvSpPr>
          <p:cNvPr id="10" name="Shape 7"/>
          <p:cNvSpPr/>
          <p:nvPr/>
        </p:nvSpPr>
        <p:spPr>
          <a:xfrm>
            <a:off x="5852160" y="3337560"/>
            <a:ext cx="5394960" cy="1371600"/>
          </a:xfrm>
          <a:prstGeom prst="roundRect">
            <a:avLst>
              <a:gd name="adj" fmla="val 5333"/>
            </a:avLst>
          </a:prstGeom>
          <a:solidFill>
            <a:srgbClr val="F5F7FA"/>
          </a:solidFill>
          <a:ln w="9525">
            <a:solidFill>
              <a:srgbClr val="D8DEE7"/>
            </a:solidFill>
            <a:prstDash val="solid"/>
          </a:ln>
        </p:spPr>
      </p:sp>
      <p:sp>
        <p:nvSpPr>
          <p:cNvPr id="11" name="Text 8"/>
          <p:cNvSpPr txBox="1"/>
          <p:nvPr/>
        </p:nvSpPr>
        <p:spPr>
          <a:xfrm>
            <a:off x="6080760" y="3474720"/>
            <a:ext cx="4572000" cy="274320"/>
          </a:xfrm>
          <a:prstGeom prst="rect">
            <a:avLst/>
          </a:prstGeom>
          <a:noFill/>
          <a:ln/>
        </p:spPr>
        <p:txBody>
          <a:bodyPr wrap="square" lIns="0" tIns="0" rIns="0" bIns="0" rtlCol="0" anchor="ctr"/>
          <a:lstStyle/>
          <a:p>
            <a:pPr indent="0" marL="0">
              <a:buNone/>
            </a:pPr>
            <a:r>
              <a:rPr lang="en-US" sz="1000" b="1" spc="100" kern="0" dirty="0">
                <a:solidFill>
                  <a:srgbClr val="3AA0FF"/>
                </a:solidFill>
                <a:latin typeface="Calibri" pitchFamily="34" charset="0"/>
                <a:ea typeface="Calibri" pitchFamily="34" charset="-122"/>
                <a:cs typeface="Calibri" pitchFamily="34" charset="-120"/>
              </a:rPr>
              <a:t>CUSTOMER SEGMENTS</a:t>
            </a:r>
            <a:endParaRPr lang="en-US" sz="1000" dirty="0"/>
          </a:p>
        </p:txBody>
      </p:sp>
      <p:sp>
        <p:nvSpPr>
          <p:cNvPr id="12" name="Text 9"/>
          <p:cNvSpPr txBox="1"/>
          <p:nvPr/>
        </p:nvSpPr>
        <p:spPr>
          <a:xfrm>
            <a:off x="6080760" y="3749040"/>
            <a:ext cx="4937760" cy="457200"/>
          </a:xfrm>
          <a:prstGeom prst="rect">
            <a:avLst/>
          </a:prstGeom>
          <a:noFill/>
          <a:ln/>
        </p:spPr>
        <p:txBody>
          <a:bodyPr wrap="square" lIns="0" tIns="0" rIns="0" bIns="0" rtlCol="0" anchor="ctr"/>
          <a:lstStyle/>
          <a:p>
            <a:pPr indent="0" marL="0">
              <a:buNone/>
            </a:pPr>
            <a:r>
              <a:rPr lang="en-US" sz="2000" b="1" dirty="0">
                <a:solidFill>
                  <a:srgbClr val="2C3E50"/>
                </a:solidFill>
                <a:latin typeface="Cambria" pitchFamily="34" charset="0"/>
                <a:ea typeface="Cambria" pitchFamily="34" charset="-122"/>
                <a:cs typeface="Cambria" pitchFamily="34" charset="-120"/>
              </a:rPr>
              <a:t>New • Premium • Regular</a:t>
            </a:r>
            <a:endParaRPr lang="en-US" sz="2000" dirty="0"/>
          </a:p>
        </p:txBody>
      </p:sp>
      <p:sp>
        <p:nvSpPr>
          <p:cNvPr id="13" name="Text 10"/>
          <p:cNvSpPr txBox="1"/>
          <p:nvPr/>
        </p:nvSpPr>
        <p:spPr>
          <a:xfrm>
            <a:off x="6080760" y="4251960"/>
            <a:ext cx="4937760" cy="36576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Fairly evenly represented across the customer base</a:t>
            </a:r>
            <a:endParaRPr lang="en-US" sz="1100" dirty="0"/>
          </a:p>
        </p:txBody>
      </p:sp>
      <p:sp>
        <p:nvSpPr>
          <p:cNvPr id="14" name="Shape 11"/>
          <p:cNvSpPr/>
          <p:nvPr/>
        </p:nvSpPr>
        <p:spPr>
          <a:xfrm>
            <a:off x="640080" y="4983480"/>
            <a:ext cx="10607040" cy="960120"/>
          </a:xfrm>
          <a:prstGeom prst="roundRect">
            <a:avLst>
              <a:gd name="adj" fmla="val 7619"/>
            </a:avLst>
          </a:prstGeom>
          <a:solidFill>
            <a:srgbClr val="F5F7FA"/>
          </a:solidFill>
          <a:ln w="9525">
            <a:solidFill>
              <a:srgbClr val="D8DEE7"/>
            </a:solidFill>
            <a:prstDash val="solid"/>
          </a:ln>
        </p:spPr>
      </p:sp>
      <p:sp>
        <p:nvSpPr>
          <p:cNvPr id="15" name="Text 12"/>
          <p:cNvSpPr txBox="1"/>
          <p:nvPr/>
        </p:nvSpPr>
        <p:spPr>
          <a:xfrm>
            <a:off x="868680" y="5120640"/>
            <a:ext cx="1188720" cy="320040"/>
          </a:xfrm>
          <a:prstGeom prst="rect">
            <a:avLst/>
          </a:prstGeom>
          <a:noFill/>
          <a:ln/>
        </p:spPr>
        <p:txBody>
          <a:bodyPr wrap="square" lIns="0" tIns="0" rIns="0" bIns="0" rtlCol="0" anchor="ctr"/>
          <a:lstStyle/>
          <a:p>
            <a:pPr indent="0" marL="0">
              <a:buNone/>
            </a:pPr>
            <a:r>
              <a:rPr lang="en-US" sz="1200" b="1" dirty="0">
                <a:solidFill>
                  <a:srgbClr val="2C3E50"/>
                </a:solidFill>
                <a:latin typeface="Calibri" pitchFamily="34" charset="0"/>
                <a:ea typeface="Calibri" pitchFamily="34" charset="-122"/>
                <a:cs typeface="Calibri" pitchFamily="34" charset="-120"/>
              </a:rPr>
              <a:t>Insight:</a:t>
            </a:r>
            <a:endParaRPr lang="en-US" sz="1200" dirty="0"/>
          </a:p>
        </p:txBody>
      </p:sp>
      <p:sp>
        <p:nvSpPr>
          <p:cNvPr id="16" name="Text 13"/>
          <p:cNvSpPr txBox="1"/>
          <p:nvPr/>
        </p:nvSpPr>
        <p:spPr>
          <a:xfrm>
            <a:off x="1965960" y="5120640"/>
            <a:ext cx="9144000" cy="685800"/>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The customer base is broad and balanced — near 50/50 by gender, evenly spread across ages, and not concentrated in any single segment. This gives a level playing field for testing targeted campaigns.</a:t>
            </a:r>
            <a:endParaRPr lang="en-US" sz="1150" dirty="0"/>
          </a:p>
        </p:txBody>
      </p:sp>
      <p:sp>
        <p:nvSpPr>
          <p:cNvPr id="17" name="Text 14"/>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18" name="Text 15"/>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40080" y="502920"/>
            <a:ext cx="1371600" cy="320040"/>
          </a:xfrm>
          <a:prstGeom prst="roundRect">
            <a:avLst>
              <a:gd name="adj" fmla="val 22857"/>
            </a:avLst>
          </a:prstGeom>
          <a:solidFill>
            <a:srgbClr val="2C3E50"/>
          </a:solidFill>
          <a:ln/>
        </p:spPr>
      </p:sp>
      <p:sp>
        <p:nvSpPr>
          <p:cNvPr id="3" name="Text 1"/>
          <p:cNvSpPr txBox="1"/>
          <p:nvPr/>
        </p:nvSpPr>
        <p:spPr>
          <a:xfrm>
            <a:off x="640080" y="502920"/>
            <a:ext cx="137160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UNIVARIATE</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Pricing &amp; purchase behavior</a:t>
            </a:r>
            <a:endParaRPr lang="en-US" sz="2800" dirty="0"/>
          </a:p>
        </p:txBody>
      </p:sp>
      <p:graphicFrame>
        <p:nvGraphicFramePr>
          <p:cNvPr id="5" name="Chart 0" descr=""/>
          <p:cNvGraphicFramePr/>
          <p:nvPr/>
        </p:nvGraphicFramePr>
        <p:xfrm>
          <a:off x="640080" y="1783080"/>
          <a:ext cx="6492240" cy="4160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06640" y="1783080"/>
            <a:ext cx="3840480" cy="1280160"/>
          </a:xfrm>
          <a:prstGeom prst="roundRect">
            <a:avLst>
              <a:gd name="adj" fmla="val 5714"/>
            </a:avLst>
          </a:prstGeom>
          <a:solidFill>
            <a:srgbClr val="FFFFFF"/>
          </a:solidFill>
          <a:ln w="9525">
            <a:solidFill>
              <a:srgbClr val="D8DEE7"/>
            </a:solidFill>
            <a:prstDash val="solid"/>
          </a:ln>
        </p:spPr>
      </p:sp>
      <p:sp>
        <p:nvSpPr>
          <p:cNvPr id="7" name="Text 4"/>
          <p:cNvSpPr txBox="1"/>
          <p:nvPr/>
        </p:nvSpPr>
        <p:spPr>
          <a:xfrm>
            <a:off x="7635240" y="1920240"/>
            <a:ext cx="3383280" cy="274320"/>
          </a:xfrm>
          <a:prstGeom prst="rect">
            <a:avLst/>
          </a:prstGeom>
          <a:noFill/>
          <a:ln/>
        </p:spPr>
        <p:txBody>
          <a:bodyPr wrap="square" lIns="0" tIns="0" rIns="0" bIns="0" rtlCol="0" anchor="ctr"/>
          <a:lstStyle/>
          <a:p>
            <a:pPr indent="0" marL="0">
              <a:buNone/>
            </a:pPr>
            <a:r>
              <a:rPr lang="en-US" sz="1000" b="1" spc="100" kern="0" dirty="0">
                <a:solidFill>
                  <a:srgbClr val="3AA0FF"/>
                </a:solidFill>
                <a:latin typeface="Calibri" pitchFamily="34" charset="0"/>
                <a:ea typeface="Calibri" pitchFamily="34" charset="-122"/>
                <a:cs typeface="Calibri" pitchFamily="34" charset="-120"/>
              </a:rPr>
              <a:t>MEAN vs MEDIAN</a:t>
            </a:r>
            <a:endParaRPr lang="en-US" sz="1000" dirty="0"/>
          </a:p>
        </p:txBody>
      </p:sp>
      <p:sp>
        <p:nvSpPr>
          <p:cNvPr id="8" name="Text 5"/>
          <p:cNvSpPr txBox="1"/>
          <p:nvPr/>
        </p:nvSpPr>
        <p:spPr>
          <a:xfrm>
            <a:off x="7635240" y="2194560"/>
            <a:ext cx="3383280" cy="457200"/>
          </a:xfrm>
          <a:prstGeom prst="rect">
            <a:avLst/>
          </a:prstGeom>
          <a:noFill/>
          <a:ln/>
        </p:spPr>
        <p:txBody>
          <a:bodyPr wrap="square" lIns="0" tIns="0" rIns="0" bIns="0" rtlCol="0" anchor="ctr"/>
          <a:lstStyle/>
          <a:p>
            <a:pPr indent="0" marL="0">
              <a:buNone/>
            </a:pPr>
            <a:r>
              <a:rPr lang="en-US" sz="1800" b="1" dirty="0">
                <a:solidFill>
                  <a:srgbClr val="2C3E50"/>
                </a:solidFill>
                <a:latin typeface="Cambria" pitchFamily="34" charset="0"/>
                <a:ea typeface="Cambria" pitchFamily="34" charset="-122"/>
                <a:cs typeface="Cambria" pitchFamily="34" charset="-120"/>
              </a:rPr>
              <a:t>₹64,166  vs  ₹49,752</a:t>
            </a:r>
            <a:endParaRPr lang="en-US" sz="1800" dirty="0"/>
          </a:p>
        </p:txBody>
      </p:sp>
      <p:sp>
        <p:nvSpPr>
          <p:cNvPr id="9" name="Text 6"/>
          <p:cNvSpPr txBox="1"/>
          <p:nvPr/>
        </p:nvSpPr>
        <p:spPr>
          <a:xfrm>
            <a:off x="7635240" y="2651760"/>
            <a:ext cx="3383280" cy="365760"/>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Mean pulled higher by a smaller number of high-value orders</a:t>
            </a:r>
            <a:endParaRPr lang="en-US" sz="1050" dirty="0"/>
          </a:p>
        </p:txBody>
      </p:sp>
      <p:sp>
        <p:nvSpPr>
          <p:cNvPr id="10" name="Shape 7"/>
          <p:cNvSpPr/>
          <p:nvPr/>
        </p:nvSpPr>
        <p:spPr>
          <a:xfrm>
            <a:off x="7406640" y="3200400"/>
            <a:ext cx="3840480" cy="1280160"/>
          </a:xfrm>
          <a:prstGeom prst="roundRect">
            <a:avLst>
              <a:gd name="adj" fmla="val 5714"/>
            </a:avLst>
          </a:prstGeom>
          <a:solidFill>
            <a:srgbClr val="FFFFFF"/>
          </a:solidFill>
          <a:ln w="9525">
            <a:solidFill>
              <a:srgbClr val="D8DEE7"/>
            </a:solidFill>
            <a:prstDash val="solid"/>
          </a:ln>
        </p:spPr>
      </p:sp>
      <p:sp>
        <p:nvSpPr>
          <p:cNvPr id="11" name="Text 8"/>
          <p:cNvSpPr txBox="1"/>
          <p:nvPr/>
        </p:nvSpPr>
        <p:spPr>
          <a:xfrm>
            <a:off x="7635240" y="3337560"/>
            <a:ext cx="3383280" cy="274320"/>
          </a:xfrm>
          <a:prstGeom prst="rect">
            <a:avLst/>
          </a:prstGeom>
          <a:noFill/>
          <a:ln/>
        </p:spPr>
        <p:txBody>
          <a:bodyPr wrap="square" lIns="0" tIns="0" rIns="0" bIns="0" rtlCol="0" anchor="ctr"/>
          <a:lstStyle/>
          <a:p>
            <a:pPr indent="0" marL="0">
              <a:buNone/>
            </a:pPr>
            <a:r>
              <a:rPr lang="en-US" sz="1000" b="1" spc="100" kern="0" dirty="0">
                <a:solidFill>
                  <a:srgbClr val="3AA0FF"/>
                </a:solidFill>
                <a:latin typeface="Calibri" pitchFamily="34" charset="0"/>
                <a:ea typeface="Calibri" pitchFamily="34" charset="-122"/>
                <a:cs typeface="Calibri" pitchFamily="34" charset="-120"/>
              </a:rPr>
              <a:t>SKEWNESS</a:t>
            </a:r>
            <a:endParaRPr lang="en-US" sz="1000" dirty="0"/>
          </a:p>
        </p:txBody>
      </p:sp>
      <p:sp>
        <p:nvSpPr>
          <p:cNvPr id="12" name="Text 9"/>
          <p:cNvSpPr txBox="1"/>
          <p:nvPr/>
        </p:nvSpPr>
        <p:spPr>
          <a:xfrm>
            <a:off x="7635240" y="3611880"/>
            <a:ext cx="3383280" cy="457200"/>
          </a:xfrm>
          <a:prstGeom prst="rect">
            <a:avLst/>
          </a:prstGeom>
          <a:noFill/>
          <a:ln/>
        </p:spPr>
        <p:txBody>
          <a:bodyPr wrap="square" lIns="0" tIns="0" rIns="0" bIns="0" rtlCol="0" anchor="ctr"/>
          <a:lstStyle/>
          <a:p>
            <a:pPr indent="0" marL="0">
              <a:buNone/>
            </a:pPr>
            <a:r>
              <a:rPr lang="en-US" sz="1800" b="1" dirty="0">
                <a:solidFill>
                  <a:srgbClr val="2C3E50"/>
                </a:solidFill>
                <a:latin typeface="Cambria" pitchFamily="34" charset="0"/>
                <a:ea typeface="Cambria" pitchFamily="34" charset="-122"/>
                <a:cs typeface="Cambria" pitchFamily="34" charset="-120"/>
              </a:rPr>
              <a:t>+0.93 (right-skewed)</a:t>
            </a:r>
            <a:endParaRPr lang="en-US" sz="1800" dirty="0"/>
          </a:p>
        </p:txBody>
      </p:sp>
      <p:sp>
        <p:nvSpPr>
          <p:cNvPr id="13" name="Text 10"/>
          <p:cNvSpPr txBox="1"/>
          <p:nvPr/>
        </p:nvSpPr>
        <p:spPr>
          <a:xfrm>
            <a:off x="7635240" y="4069080"/>
            <a:ext cx="3383280" cy="457200"/>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Most orders are lower value, with a long tail of high-value transactions</a:t>
            </a:r>
            <a:endParaRPr lang="en-US" sz="1050" dirty="0"/>
          </a:p>
        </p:txBody>
      </p:sp>
      <p:sp>
        <p:nvSpPr>
          <p:cNvPr id="14" name="Shape 11"/>
          <p:cNvSpPr/>
          <p:nvPr/>
        </p:nvSpPr>
        <p:spPr>
          <a:xfrm>
            <a:off x="7406640" y="4617720"/>
            <a:ext cx="3840480" cy="1325880"/>
          </a:xfrm>
          <a:prstGeom prst="roundRect">
            <a:avLst>
              <a:gd name="adj" fmla="val 5517"/>
            </a:avLst>
          </a:prstGeom>
          <a:solidFill>
            <a:srgbClr val="FFFFFF"/>
          </a:solidFill>
          <a:ln w="9525">
            <a:solidFill>
              <a:srgbClr val="D8DEE7"/>
            </a:solidFill>
            <a:prstDash val="solid"/>
          </a:ln>
        </p:spPr>
      </p:sp>
      <p:sp>
        <p:nvSpPr>
          <p:cNvPr id="15" name="Text 12"/>
          <p:cNvSpPr txBox="1"/>
          <p:nvPr/>
        </p:nvSpPr>
        <p:spPr>
          <a:xfrm>
            <a:off x="7635240" y="4754880"/>
            <a:ext cx="3383280" cy="274320"/>
          </a:xfrm>
          <a:prstGeom prst="rect">
            <a:avLst/>
          </a:prstGeom>
          <a:noFill/>
          <a:ln/>
        </p:spPr>
        <p:txBody>
          <a:bodyPr wrap="square" lIns="0" tIns="0" rIns="0" bIns="0" rtlCol="0" anchor="ctr"/>
          <a:lstStyle/>
          <a:p>
            <a:pPr indent="0" marL="0">
              <a:buNone/>
            </a:pPr>
            <a:r>
              <a:rPr lang="en-US" sz="1000" b="1" spc="100" kern="0" dirty="0">
                <a:solidFill>
                  <a:srgbClr val="3AA0FF"/>
                </a:solidFill>
                <a:latin typeface="Calibri" pitchFamily="34" charset="0"/>
                <a:ea typeface="Calibri" pitchFamily="34" charset="-122"/>
                <a:cs typeface="Calibri" pitchFamily="34" charset="-120"/>
              </a:rPr>
              <a:t>PRICE &amp; QUANTITY</a:t>
            </a:r>
            <a:endParaRPr lang="en-US" sz="1000" dirty="0"/>
          </a:p>
        </p:txBody>
      </p:sp>
      <p:sp>
        <p:nvSpPr>
          <p:cNvPr id="16" name="Text 13"/>
          <p:cNvSpPr txBox="1"/>
          <p:nvPr/>
        </p:nvSpPr>
        <p:spPr>
          <a:xfrm>
            <a:off x="7635240" y="5029200"/>
            <a:ext cx="3383280" cy="365760"/>
          </a:xfrm>
          <a:prstGeom prst="rect">
            <a:avLst/>
          </a:prstGeom>
          <a:noFill/>
          <a:ln/>
        </p:spPr>
        <p:txBody>
          <a:bodyPr wrap="square" lIns="0" tIns="0" rIns="0" bIns="0" rtlCol="0" anchor="ctr"/>
          <a:lstStyle/>
          <a:p>
            <a:pPr indent="0" marL="0">
              <a:buNone/>
            </a:pPr>
            <a:r>
              <a:rPr lang="en-US" sz="1600" b="1" dirty="0">
                <a:solidFill>
                  <a:srgbClr val="2C3E50"/>
                </a:solidFill>
                <a:latin typeface="Cambria" pitchFamily="34" charset="0"/>
                <a:ea typeface="Cambria" pitchFamily="34" charset="-122"/>
                <a:cs typeface="Cambria" pitchFamily="34" charset="-120"/>
              </a:rPr>
              <a:t>Uniform spread</a:t>
            </a:r>
            <a:endParaRPr lang="en-US" sz="1600" dirty="0"/>
          </a:p>
        </p:txBody>
      </p:sp>
      <p:sp>
        <p:nvSpPr>
          <p:cNvPr id="17" name="Text 14"/>
          <p:cNvSpPr txBox="1"/>
          <p:nvPr/>
        </p:nvSpPr>
        <p:spPr>
          <a:xfrm>
            <a:off x="7635240" y="5394960"/>
            <a:ext cx="3383280" cy="5029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product_price (₹500–60k) and quantity (1–4 units) both spread evenly — no bias toward budget or bulk buying</a:t>
            </a:r>
            <a:endParaRPr lang="en-US" sz="1000" dirty="0"/>
          </a:p>
        </p:txBody>
      </p:sp>
      <p:sp>
        <p:nvSpPr>
          <p:cNvPr id="18" name="Text 15"/>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19" name="Text 16"/>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554480" cy="320040"/>
          </a:xfrm>
          <a:prstGeom prst="roundRect">
            <a:avLst>
              <a:gd name="adj" fmla="val 22857"/>
            </a:avLst>
          </a:prstGeom>
          <a:solidFill>
            <a:srgbClr val="2C3E50"/>
          </a:solidFill>
          <a:ln/>
        </p:spPr>
      </p:sp>
      <p:sp>
        <p:nvSpPr>
          <p:cNvPr id="3" name="Text 1"/>
          <p:cNvSpPr txBox="1"/>
          <p:nvPr/>
        </p:nvSpPr>
        <p:spPr>
          <a:xfrm>
            <a:off x="640080" y="502920"/>
            <a:ext cx="155448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DATA QUALITY</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Outlier detection (IQR &amp; Z-score)</a:t>
            </a:r>
            <a:endParaRPr lang="en-US" sz="2800" dirty="0"/>
          </a:p>
        </p:txBody>
      </p:sp>
      <p:sp>
        <p:nvSpPr>
          <p:cNvPr id="5" name="Shape 3"/>
          <p:cNvSpPr/>
          <p:nvPr/>
        </p:nvSpPr>
        <p:spPr>
          <a:xfrm>
            <a:off x="640080" y="1783080"/>
            <a:ext cx="2926080" cy="566928"/>
          </a:xfrm>
          <a:prstGeom prst="rect">
            <a:avLst/>
          </a:prstGeom>
          <a:solidFill>
            <a:srgbClr val="2C3E50"/>
          </a:solidFill>
          <a:ln/>
        </p:spPr>
      </p:sp>
      <p:sp>
        <p:nvSpPr>
          <p:cNvPr id="6" name="Text 4"/>
          <p:cNvSpPr txBox="1"/>
          <p:nvPr/>
        </p:nvSpPr>
        <p:spPr>
          <a:xfrm>
            <a:off x="640080" y="1783080"/>
            <a:ext cx="29260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p>
        </p:txBody>
      </p:sp>
      <p:sp>
        <p:nvSpPr>
          <p:cNvPr id="7" name="Shape 5"/>
          <p:cNvSpPr/>
          <p:nvPr/>
        </p:nvSpPr>
        <p:spPr>
          <a:xfrm>
            <a:off x="3566160" y="1783080"/>
            <a:ext cx="2651760" cy="566928"/>
          </a:xfrm>
          <a:prstGeom prst="rect">
            <a:avLst/>
          </a:prstGeom>
          <a:solidFill>
            <a:srgbClr val="2C3E50"/>
          </a:solidFill>
          <a:ln/>
        </p:spPr>
      </p:sp>
      <p:sp>
        <p:nvSpPr>
          <p:cNvPr id="8" name="Text 6"/>
          <p:cNvSpPr txBox="1"/>
          <p:nvPr/>
        </p:nvSpPr>
        <p:spPr>
          <a:xfrm>
            <a:off x="3566160" y="1783080"/>
            <a:ext cx="26517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IQR Outliers</a:t>
            </a:r>
            <a:endParaRPr lang="en-US" sz="1200" dirty="0"/>
          </a:p>
        </p:txBody>
      </p:sp>
      <p:sp>
        <p:nvSpPr>
          <p:cNvPr id="9" name="Shape 7"/>
          <p:cNvSpPr/>
          <p:nvPr/>
        </p:nvSpPr>
        <p:spPr>
          <a:xfrm>
            <a:off x="6217920" y="1783080"/>
            <a:ext cx="2651760" cy="566928"/>
          </a:xfrm>
          <a:prstGeom prst="rect">
            <a:avLst/>
          </a:prstGeom>
          <a:solidFill>
            <a:srgbClr val="2C3E50"/>
          </a:solidFill>
          <a:ln/>
        </p:spPr>
      </p:sp>
      <p:sp>
        <p:nvSpPr>
          <p:cNvPr id="10" name="Text 8"/>
          <p:cNvSpPr txBox="1"/>
          <p:nvPr/>
        </p:nvSpPr>
        <p:spPr>
          <a:xfrm>
            <a:off x="6217920" y="1783080"/>
            <a:ext cx="26517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Z-score Outliers</a:t>
            </a:r>
            <a:endParaRPr lang="en-US" sz="1200" dirty="0"/>
          </a:p>
        </p:txBody>
      </p:sp>
      <p:sp>
        <p:nvSpPr>
          <p:cNvPr id="11" name="Shape 9"/>
          <p:cNvSpPr/>
          <p:nvPr/>
        </p:nvSpPr>
        <p:spPr>
          <a:xfrm>
            <a:off x="8869680" y="1783080"/>
            <a:ext cx="2377440" cy="566928"/>
          </a:xfrm>
          <a:prstGeom prst="rect">
            <a:avLst/>
          </a:prstGeom>
          <a:solidFill>
            <a:srgbClr val="2C3E50"/>
          </a:solidFill>
          <a:ln/>
        </p:spPr>
      </p:sp>
      <p:sp>
        <p:nvSpPr>
          <p:cNvPr id="12" name="Text 10"/>
          <p:cNvSpPr txBox="1"/>
          <p:nvPr/>
        </p:nvSpPr>
        <p:spPr>
          <a:xfrm>
            <a:off x="8869680" y="1783080"/>
            <a:ext cx="23774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p>
        </p:txBody>
      </p:sp>
      <p:sp>
        <p:nvSpPr>
          <p:cNvPr id="13" name="Shape 11"/>
          <p:cNvSpPr/>
          <p:nvPr/>
        </p:nvSpPr>
        <p:spPr>
          <a:xfrm>
            <a:off x="640080" y="2350008"/>
            <a:ext cx="2926080" cy="566928"/>
          </a:xfrm>
          <a:prstGeom prst="rect">
            <a:avLst/>
          </a:prstGeom>
          <a:solidFill>
            <a:srgbClr val="FFFFFF"/>
          </a:solidFill>
          <a:ln w="6350">
            <a:solidFill>
              <a:srgbClr val="D8DEE7"/>
            </a:solidFill>
            <a:prstDash val="solid"/>
          </a:ln>
        </p:spPr>
      </p:sp>
      <p:sp>
        <p:nvSpPr>
          <p:cNvPr id="14" name="Text 12"/>
          <p:cNvSpPr txBox="1"/>
          <p:nvPr/>
        </p:nvSpPr>
        <p:spPr>
          <a:xfrm>
            <a:off x="640080" y="2350008"/>
            <a:ext cx="2926080" cy="566928"/>
          </a:xfrm>
          <a:prstGeom prst="rect">
            <a:avLst/>
          </a:prstGeom>
          <a:noFill/>
          <a:ln/>
        </p:spPr>
        <p:txBody>
          <a:bodyPr wrap="square" lIns="0" tIns="0" rIns="0" bIns="0" rtlCol="0" anchor="ctr"/>
          <a:lstStyle/>
          <a:p>
            <a:pPr algn="ctr" indent="0" marL="0">
              <a:buNone/>
            </a:pPr>
            <a:r>
              <a:rPr lang="en-US" sz="1250" b="1" dirty="0">
                <a:solidFill>
                  <a:srgbClr val="1B2430"/>
                </a:solidFill>
                <a:latin typeface="Calibri" pitchFamily="34" charset="0"/>
                <a:ea typeface="Calibri" pitchFamily="34" charset="-122"/>
                <a:cs typeface="Calibri" pitchFamily="34" charset="-120"/>
              </a:rPr>
              <a:t>product_price</a:t>
            </a:r>
            <a:endParaRPr lang="en-US" sz="1250" dirty="0"/>
          </a:p>
        </p:txBody>
      </p:sp>
      <p:sp>
        <p:nvSpPr>
          <p:cNvPr id="15" name="Shape 13"/>
          <p:cNvSpPr/>
          <p:nvPr/>
        </p:nvSpPr>
        <p:spPr>
          <a:xfrm>
            <a:off x="3566160" y="2350008"/>
            <a:ext cx="2651760" cy="566928"/>
          </a:xfrm>
          <a:prstGeom prst="rect">
            <a:avLst/>
          </a:prstGeom>
          <a:solidFill>
            <a:srgbClr val="FFFFFF"/>
          </a:solidFill>
          <a:ln w="6350">
            <a:solidFill>
              <a:srgbClr val="D8DEE7"/>
            </a:solidFill>
            <a:prstDash val="solid"/>
          </a:ln>
        </p:spPr>
      </p:sp>
      <p:sp>
        <p:nvSpPr>
          <p:cNvPr id="16" name="Text 14"/>
          <p:cNvSpPr txBox="1"/>
          <p:nvPr/>
        </p:nvSpPr>
        <p:spPr>
          <a:xfrm>
            <a:off x="3566160" y="2350008"/>
            <a:ext cx="2651760" cy="566928"/>
          </a:xfrm>
          <a:prstGeom prst="rect">
            <a:avLst/>
          </a:prstGeom>
          <a:noFill/>
          <a:ln/>
        </p:spPr>
        <p:txBody>
          <a:bodyPr wrap="square" lIns="0" tIns="0" rIns="0" bIns="0" rtlCol="0" anchor="ctr"/>
          <a:lstStyle/>
          <a:p>
            <a:pPr algn="ctr" indent="0" marL="0">
              <a:buNone/>
            </a:pPr>
            <a:r>
              <a:rPr lang="en-US" sz="1250" dirty="0">
                <a:solidFill>
                  <a:srgbClr val="1B2430"/>
                </a:solidFill>
                <a:latin typeface="Calibri" pitchFamily="34" charset="0"/>
                <a:ea typeface="Calibri" pitchFamily="34" charset="-122"/>
                <a:cs typeface="Calibri" pitchFamily="34" charset="-120"/>
              </a:rPr>
              <a:t>0</a:t>
            </a:r>
            <a:endParaRPr lang="en-US" sz="1250" dirty="0"/>
          </a:p>
        </p:txBody>
      </p:sp>
      <p:sp>
        <p:nvSpPr>
          <p:cNvPr id="17" name="Shape 15"/>
          <p:cNvSpPr/>
          <p:nvPr/>
        </p:nvSpPr>
        <p:spPr>
          <a:xfrm>
            <a:off x="6217920" y="2350008"/>
            <a:ext cx="2651760" cy="566928"/>
          </a:xfrm>
          <a:prstGeom prst="rect">
            <a:avLst/>
          </a:prstGeom>
          <a:solidFill>
            <a:srgbClr val="FFFFFF"/>
          </a:solidFill>
          <a:ln w="6350">
            <a:solidFill>
              <a:srgbClr val="D8DEE7"/>
            </a:solidFill>
            <a:prstDash val="solid"/>
          </a:ln>
        </p:spPr>
      </p:sp>
      <p:sp>
        <p:nvSpPr>
          <p:cNvPr id="18" name="Text 16"/>
          <p:cNvSpPr txBox="1"/>
          <p:nvPr/>
        </p:nvSpPr>
        <p:spPr>
          <a:xfrm>
            <a:off x="6217920" y="2350008"/>
            <a:ext cx="2651760" cy="566928"/>
          </a:xfrm>
          <a:prstGeom prst="rect">
            <a:avLst/>
          </a:prstGeom>
          <a:noFill/>
          <a:ln/>
        </p:spPr>
        <p:txBody>
          <a:bodyPr wrap="square" lIns="0" tIns="0" rIns="0" bIns="0" rtlCol="0" anchor="ctr"/>
          <a:lstStyle/>
          <a:p>
            <a:pPr algn="ctr" indent="0" marL="0">
              <a:buNone/>
            </a:pPr>
            <a:r>
              <a:rPr lang="en-US" sz="1250" dirty="0">
                <a:solidFill>
                  <a:srgbClr val="1B2430"/>
                </a:solidFill>
                <a:latin typeface="Calibri" pitchFamily="34" charset="0"/>
                <a:ea typeface="Calibri" pitchFamily="34" charset="-122"/>
                <a:cs typeface="Calibri" pitchFamily="34" charset="-120"/>
              </a:rPr>
              <a:t>0</a:t>
            </a:r>
            <a:endParaRPr lang="en-US" sz="1250" dirty="0"/>
          </a:p>
        </p:txBody>
      </p:sp>
      <p:sp>
        <p:nvSpPr>
          <p:cNvPr id="19" name="Shape 17"/>
          <p:cNvSpPr/>
          <p:nvPr/>
        </p:nvSpPr>
        <p:spPr>
          <a:xfrm>
            <a:off x="8869680" y="2350008"/>
            <a:ext cx="2377440" cy="566928"/>
          </a:xfrm>
          <a:prstGeom prst="rect">
            <a:avLst/>
          </a:prstGeom>
          <a:solidFill>
            <a:srgbClr val="FFFFFF"/>
          </a:solidFill>
          <a:ln w="6350">
            <a:solidFill>
              <a:srgbClr val="D8DEE7"/>
            </a:solidFill>
            <a:prstDash val="solid"/>
          </a:ln>
        </p:spPr>
      </p:sp>
      <p:sp>
        <p:nvSpPr>
          <p:cNvPr id="20" name="Text 18"/>
          <p:cNvSpPr txBox="1"/>
          <p:nvPr/>
        </p:nvSpPr>
        <p:spPr>
          <a:xfrm>
            <a:off x="8869680" y="2350008"/>
            <a:ext cx="2377440" cy="566928"/>
          </a:xfrm>
          <a:prstGeom prst="rect">
            <a:avLst/>
          </a:prstGeom>
          <a:noFill/>
          <a:ln/>
        </p:spPr>
        <p:txBody>
          <a:bodyPr wrap="square" lIns="0" tIns="0" rIns="0" bIns="0" rtlCol="0" anchor="ctr"/>
          <a:lstStyle/>
          <a:p>
            <a:pPr algn="ctr" indent="0" marL="0">
              <a:buNone/>
            </a:pPr>
            <a:r>
              <a:rPr lang="en-US" sz="1250" b="1" dirty="0">
                <a:solidFill>
                  <a:srgbClr val="3E7C59"/>
                </a:solidFill>
                <a:latin typeface="Calibri" pitchFamily="34" charset="0"/>
                <a:ea typeface="Calibri" pitchFamily="34" charset="-122"/>
                <a:cs typeface="Calibri" pitchFamily="34" charset="-120"/>
              </a:rPr>
              <a:t>Clean</a:t>
            </a:r>
            <a:endParaRPr lang="en-US" sz="1250" dirty="0"/>
          </a:p>
        </p:txBody>
      </p:sp>
      <p:sp>
        <p:nvSpPr>
          <p:cNvPr id="21" name="Shape 19"/>
          <p:cNvSpPr/>
          <p:nvPr/>
        </p:nvSpPr>
        <p:spPr>
          <a:xfrm>
            <a:off x="640080" y="2916936"/>
            <a:ext cx="2926080" cy="566928"/>
          </a:xfrm>
          <a:prstGeom prst="rect">
            <a:avLst/>
          </a:prstGeom>
          <a:solidFill>
            <a:srgbClr val="F5F7FA"/>
          </a:solidFill>
          <a:ln w="6350">
            <a:solidFill>
              <a:srgbClr val="D8DEE7"/>
            </a:solidFill>
            <a:prstDash val="solid"/>
          </a:ln>
        </p:spPr>
      </p:sp>
      <p:sp>
        <p:nvSpPr>
          <p:cNvPr id="22" name="Text 20"/>
          <p:cNvSpPr txBox="1"/>
          <p:nvPr/>
        </p:nvSpPr>
        <p:spPr>
          <a:xfrm>
            <a:off x="640080" y="2916936"/>
            <a:ext cx="2926080" cy="566928"/>
          </a:xfrm>
          <a:prstGeom prst="rect">
            <a:avLst/>
          </a:prstGeom>
          <a:noFill/>
          <a:ln/>
        </p:spPr>
        <p:txBody>
          <a:bodyPr wrap="square" lIns="0" tIns="0" rIns="0" bIns="0" rtlCol="0" anchor="ctr"/>
          <a:lstStyle/>
          <a:p>
            <a:pPr algn="ctr" indent="0" marL="0">
              <a:buNone/>
            </a:pPr>
            <a:r>
              <a:rPr lang="en-US" sz="1250" b="1" dirty="0">
                <a:solidFill>
                  <a:srgbClr val="1B2430"/>
                </a:solidFill>
                <a:latin typeface="Calibri" pitchFamily="34" charset="0"/>
                <a:ea typeface="Calibri" pitchFamily="34" charset="-122"/>
                <a:cs typeface="Calibri" pitchFamily="34" charset="-120"/>
              </a:rPr>
              <a:t>quantity</a:t>
            </a:r>
            <a:endParaRPr lang="en-US" sz="1250" dirty="0"/>
          </a:p>
        </p:txBody>
      </p:sp>
      <p:sp>
        <p:nvSpPr>
          <p:cNvPr id="23" name="Shape 21"/>
          <p:cNvSpPr/>
          <p:nvPr/>
        </p:nvSpPr>
        <p:spPr>
          <a:xfrm>
            <a:off x="3566160" y="2916936"/>
            <a:ext cx="2651760" cy="566928"/>
          </a:xfrm>
          <a:prstGeom prst="rect">
            <a:avLst/>
          </a:prstGeom>
          <a:solidFill>
            <a:srgbClr val="F5F7FA"/>
          </a:solidFill>
          <a:ln w="6350">
            <a:solidFill>
              <a:srgbClr val="D8DEE7"/>
            </a:solidFill>
            <a:prstDash val="solid"/>
          </a:ln>
        </p:spPr>
      </p:sp>
      <p:sp>
        <p:nvSpPr>
          <p:cNvPr id="24" name="Text 22"/>
          <p:cNvSpPr txBox="1"/>
          <p:nvPr/>
        </p:nvSpPr>
        <p:spPr>
          <a:xfrm>
            <a:off x="3566160" y="2916936"/>
            <a:ext cx="2651760" cy="566928"/>
          </a:xfrm>
          <a:prstGeom prst="rect">
            <a:avLst/>
          </a:prstGeom>
          <a:noFill/>
          <a:ln/>
        </p:spPr>
        <p:txBody>
          <a:bodyPr wrap="square" lIns="0" tIns="0" rIns="0" bIns="0" rtlCol="0" anchor="ctr"/>
          <a:lstStyle/>
          <a:p>
            <a:pPr algn="ctr" indent="0" marL="0">
              <a:buNone/>
            </a:pPr>
            <a:r>
              <a:rPr lang="en-US" sz="1250" dirty="0">
                <a:solidFill>
                  <a:srgbClr val="1B2430"/>
                </a:solidFill>
                <a:latin typeface="Calibri" pitchFamily="34" charset="0"/>
                <a:ea typeface="Calibri" pitchFamily="34" charset="-122"/>
                <a:cs typeface="Calibri" pitchFamily="34" charset="-120"/>
              </a:rPr>
              <a:t>0</a:t>
            </a:r>
            <a:endParaRPr lang="en-US" sz="1250" dirty="0"/>
          </a:p>
        </p:txBody>
      </p:sp>
      <p:sp>
        <p:nvSpPr>
          <p:cNvPr id="25" name="Shape 23"/>
          <p:cNvSpPr/>
          <p:nvPr/>
        </p:nvSpPr>
        <p:spPr>
          <a:xfrm>
            <a:off x="6217920" y="2916936"/>
            <a:ext cx="2651760" cy="566928"/>
          </a:xfrm>
          <a:prstGeom prst="rect">
            <a:avLst/>
          </a:prstGeom>
          <a:solidFill>
            <a:srgbClr val="F5F7FA"/>
          </a:solidFill>
          <a:ln w="6350">
            <a:solidFill>
              <a:srgbClr val="D8DEE7"/>
            </a:solidFill>
            <a:prstDash val="solid"/>
          </a:ln>
        </p:spPr>
      </p:sp>
      <p:sp>
        <p:nvSpPr>
          <p:cNvPr id="26" name="Text 24"/>
          <p:cNvSpPr txBox="1"/>
          <p:nvPr/>
        </p:nvSpPr>
        <p:spPr>
          <a:xfrm>
            <a:off x="6217920" y="2916936"/>
            <a:ext cx="2651760" cy="566928"/>
          </a:xfrm>
          <a:prstGeom prst="rect">
            <a:avLst/>
          </a:prstGeom>
          <a:noFill/>
          <a:ln/>
        </p:spPr>
        <p:txBody>
          <a:bodyPr wrap="square" lIns="0" tIns="0" rIns="0" bIns="0" rtlCol="0" anchor="ctr"/>
          <a:lstStyle/>
          <a:p>
            <a:pPr algn="ctr" indent="0" marL="0">
              <a:buNone/>
            </a:pPr>
            <a:r>
              <a:rPr lang="en-US" sz="1250" dirty="0">
                <a:solidFill>
                  <a:srgbClr val="1B2430"/>
                </a:solidFill>
                <a:latin typeface="Calibri" pitchFamily="34" charset="0"/>
                <a:ea typeface="Calibri" pitchFamily="34" charset="-122"/>
                <a:cs typeface="Calibri" pitchFamily="34" charset="-120"/>
              </a:rPr>
              <a:t>0</a:t>
            </a:r>
            <a:endParaRPr lang="en-US" sz="1250" dirty="0"/>
          </a:p>
        </p:txBody>
      </p:sp>
      <p:sp>
        <p:nvSpPr>
          <p:cNvPr id="27" name="Shape 25"/>
          <p:cNvSpPr/>
          <p:nvPr/>
        </p:nvSpPr>
        <p:spPr>
          <a:xfrm>
            <a:off x="8869680" y="2916936"/>
            <a:ext cx="2377440" cy="566928"/>
          </a:xfrm>
          <a:prstGeom prst="rect">
            <a:avLst/>
          </a:prstGeom>
          <a:solidFill>
            <a:srgbClr val="F5F7FA"/>
          </a:solidFill>
          <a:ln w="6350">
            <a:solidFill>
              <a:srgbClr val="D8DEE7"/>
            </a:solidFill>
            <a:prstDash val="solid"/>
          </a:ln>
        </p:spPr>
      </p:sp>
      <p:sp>
        <p:nvSpPr>
          <p:cNvPr id="28" name="Text 26"/>
          <p:cNvSpPr txBox="1"/>
          <p:nvPr/>
        </p:nvSpPr>
        <p:spPr>
          <a:xfrm>
            <a:off x="8869680" y="2916936"/>
            <a:ext cx="2377440" cy="566928"/>
          </a:xfrm>
          <a:prstGeom prst="rect">
            <a:avLst/>
          </a:prstGeom>
          <a:noFill/>
          <a:ln/>
        </p:spPr>
        <p:txBody>
          <a:bodyPr wrap="square" lIns="0" tIns="0" rIns="0" bIns="0" rtlCol="0" anchor="ctr"/>
          <a:lstStyle/>
          <a:p>
            <a:pPr algn="ctr" indent="0" marL="0">
              <a:buNone/>
            </a:pPr>
            <a:r>
              <a:rPr lang="en-US" sz="1250" b="1" dirty="0">
                <a:solidFill>
                  <a:srgbClr val="3E7C59"/>
                </a:solidFill>
                <a:latin typeface="Calibri" pitchFamily="34" charset="0"/>
                <a:ea typeface="Calibri" pitchFamily="34" charset="-122"/>
                <a:cs typeface="Calibri" pitchFamily="34" charset="-120"/>
              </a:rPr>
              <a:t>Clean</a:t>
            </a:r>
            <a:endParaRPr lang="en-US" sz="1250" dirty="0"/>
          </a:p>
        </p:txBody>
      </p:sp>
      <p:sp>
        <p:nvSpPr>
          <p:cNvPr id="29" name="Shape 27"/>
          <p:cNvSpPr/>
          <p:nvPr/>
        </p:nvSpPr>
        <p:spPr>
          <a:xfrm>
            <a:off x="640080" y="3483864"/>
            <a:ext cx="2926080" cy="566928"/>
          </a:xfrm>
          <a:prstGeom prst="rect">
            <a:avLst/>
          </a:prstGeom>
          <a:solidFill>
            <a:srgbClr val="FFFFFF"/>
          </a:solidFill>
          <a:ln w="6350">
            <a:solidFill>
              <a:srgbClr val="D8DEE7"/>
            </a:solidFill>
            <a:prstDash val="solid"/>
          </a:ln>
        </p:spPr>
      </p:sp>
      <p:sp>
        <p:nvSpPr>
          <p:cNvPr id="30" name="Text 28"/>
          <p:cNvSpPr txBox="1"/>
          <p:nvPr/>
        </p:nvSpPr>
        <p:spPr>
          <a:xfrm>
            <a:off x="640080" y="3483864"/>
            <a:ext cx="2926080" cy="566928"/>
          </a:xfrm>
          <a:prstGeom prst="rect">
            <a:avLst/>
          </a:prstGeom>
          <a:noFill/>
          <a:ln/>
        </p:spPr>
        <p:txBody>
          <a:bodyPr wrap="square" lIns="0" tIns="0" rIns="0" bIns="0" rtlCol="0" anchor="ctr"/>
          <a:lstStyle/>
          <a:p>
            <a:pPr algn="ctr" indent="0" marL="0">
              <a:buNone/>
            </a:pPr>
            <a:r>
              <a:rPr lang="en-US" sz="1250" b="1" dirty="0">
                <a:solidFill>
                  <a:srgbClr val="1B2430"/>
                </a:solidFill>
                <a:latin typeface="Calibri" pitchFamily="34" charset="0"/>
                <a:ea typeface="Calibri" pitchFamily="34" charset="-122"/>
                <a:cs typeface="Calibri" pitchFamily="34" charset="-120"/>
              </a:rPr>
              <a:t>delivery_days</a:t>
            </a:r>
            <a:endParaRPr lang="en-US" sz="1250" dirty="0"/>
          </a:p>
        </p:txBody>
      </p:sp>
      <p:sp>
        <p:nvSpPr>
          <p:cNvPr id="31" name="Shape 29"/>
          <p:cNvSpPr/>
          <p:nvPr/>
        </p:nvSpPr>
        <p:spPr>
          <a:xfrm>
            <a:off x="3566160" y="3483864"/>
            <a:ext cx="2651760" cy="566928"/>
          </a:xfrm>
          <a:prstGeom prst="rect">
            <a:avLst/>
          </a:prstGeom>
          <a:solidFill>
            <a:srgbClr val="FFFFFF"/>
          </a:solidFill>
          <a:ln w="6350">
            <a:solidFill>
              <a:srgbClr val="D8DEE7"/>
            </a:solidFill>
            <a:prstDash val="solid"/>
          </a:ln>
        </p:spPr>
      </p:sp>
      <p:sp>
        <p:nvSpPr>
          <p:cNvPr id="32" name="Text 30"/>
          <p:cNvSpPr txBox="1"/>
          <p:nvPr/>
        </p:nvSpPr>
        <p:spPr>
          <a:xfrm>
            <a:off x="3566160" y="3483864"/>
            <a:ext cx="2651760" cy="566928"/>
          </a:xfrm>
          <a:prstGeom prst="rect">
            <a:avLst/>
          </a:prstGeom>
          <a:noFill/>
          <a:ln/>
        </p:spPr>
        <p:txBody>
          <a:bodyPr wrap="square" lIns="0" tIns="0" rIns="0" bIns="0" rtlCol="0" anchor="ctr"/>
          <a:lstStyle/>
          <a:p>
            <a:pPr algn="ctr" indent="0" marL="0">
              <a:buNone/>
            </a:pPr>
            <a:r>
              <a:rPr lang="en-US" sz="1250" dirty="0">
                <a:solidFill>
                  <a:srgbClr val="1B2430"/>
                </a:solidFill>
                <a:latin typeface="Calibri" pitchFamily="34" charset="0"/>
                <a:ea typeface="Calibri" pitchFamily="34" charset="-122"/>
                <a:cs typeface="Calibri" pitchFamily="34" charset="-120"/>
              </a:rPr>
              <a:t>0</a:t>
            </a:r>
            <a:endParaRPr lang="en-US" sz="1250" dirty="0"/>
          </a:p>
        </p:txBody>
      </p:sp>
      <p:sp>
        <p:nvSpPr>
          <p:cNvPr id="33" name="Shape 31"/>
          <p:cNvSpPr/>
          <p:nvPr/>
        </p:nvSpPr>
        <p:spPr>
          <a:xfrm>
            <a:off x="6217920" y="3483864"/>
            <a:ext cx="2651760" cy="566928"/>
          </a:xfrm>
          <a:prstGeom prst="rect">
            <a:avLst/>
          </a:prstGeom>
          <a:solidFill>
            <a:srgbClr val="FFFFFF"/>
          </a:solidFill>
          <a:ln w="6350">
            <a:solidFill>
              <a:srgbClr val="D8DEE7"/>
            </a:solidFill>
            <a:prstDash val="solid"/>
          </a:ln>
        </p:spPr>
      </p:sp>
      <p:sp>
        <p:nvSpPr>
          <p:cNvPr id="34" name="Text 32"/>
          <p:cNvSpPr txBox="1"/>
          <p:nvPr/>
        </p:nvSpPr>
        <p:spPr>
          <a:xfrm>
            <a:off x="6217920" y="3483864"/>
            <a:ext cx="2651760" cy="566928"/>
          </a:xfrm>
          <a:prstGeom prst="rect">
            <a:avLst/>
          </a:prstGeom>
          <a:noFill/>
          <a:ln/>
        </p:spPr>
        <p:txBody>
          <a:bodyPr wrap="square" lIns="0" tIns="0" rIns="0" bIns="0" rtlCol="0" anchor="ctr"/>
          <a:lstStyle/>
          <a:p>
            <a:pPr algn="ctr" indent="0" marL="0">
              <a:buNone/>
            </a:pPr>
            <a:r>
              <a:rPr lang="en-US" sz="1250" dirty="0">
                <a:solidFill>
                  <a:srgbClr val="1B2430"/>
                </a:solidFill>
                <a:latin typeface="Calibri" pitchFamily="34" charset="0"/>
                <a:ea typeface="Calibri" pitchFamily="34" charset="-122"/>
                <a:cs typeface="Calibri" pitchFamily="34" charset="-120"/>
              </a:rPr>
              <a:t>0</a:t>
            </a:r>
            <a:endParaRPr lang="en-US" sz="1250" dirty="0"/>
          </a:p>
        </p:txBody>
      </p:sp>
      <p:sp>
        <p:nvSpPr>
          <p:cNvPr id="35" name="Shape 33"/>
          <p:cNvSpPr/>
          <p:nvPr/>
        </p:nvSpPr>
        <p:spPr>
          <a:xfrm>
            <a:off x="8869680" y="3483864"/>
            <a:ext cx="2377440" cy="566928"/>
          </a:xfrm>
          <a:prstGeom prst="rect">
            <a:avLst/>
          </a:prstGeom>
          <a:solidFill>
            <a:srgbClr val="FFFFFF"/>
          </a:solidFill>
          <a:ln w="6350">
            <a:solidFill>
              <a:srgbClr val="D8DEE7"/>
            </a:solidFill>
            <a:prstDash val="solid"/>
          </a:ln>
        </p:spPr>
      </p:sp>
      <p:sp>
        <p:nvSpPr>
          <p:cNvPr id="36" name="Text 34"/>
          <p:cNvSpPr txBox="1"/>
          <p:nvPr/>
        </p:nvSpPr>
        <p:spPr>
          <a:xfrm>
            <a:off x="8869680" y="3483864"/>
            <a:ext cx="2377440" cy="566928"/>
          </a:xfrm>
          <a:prstGeom prst="rect">
            <a:avLst/>
          </a:prstGeom>
          <a:noFill/>
          <a:ln/>
        </p:spPr>
        <p:txBody>
          <a:bodyPr wrap="square" lIns="0" tIns="0" rIns="0" bIns="0" rtlCol="0" anchor="ctr"/>
          <a:lstStyle/>
          <a:p>
            <a:pPr algn="ctr" indent="0" marL="0">
              <a:buNone/>
            </a:pPr>
            <a:r>
              <a:rPr lang="en-US" sz="1250" b="1" dirty="0">
                <a:solidFill>
                  <a:srgbClr val="3E7C59"/>
                </a:solidFill>
                <a:latin typeface="Calibri" pitchFamily="34" charset="0"/>
                <a:ea typeface="Calibri" pitchFamily="34" charset="-122"/>
                <a:cs typeface="Calibri" pitchFamily="34" charset="-120"/>
              </a:rPr>
              <a:t>Clean</a:t>
            </a:r>
            <a:endParaRPr lang="en-US" sz="1250" dirty="0"/>
          </a:p>
        </p:txBody>
      </p:sp>
      <p:sp>
        <p:nvSpPr>
          <p:cNvPr id="37" name="Shape 35"/>
          <p:cNvSpPr/>
          <p:nvPr/>
        </p:nvSpPr>
        <p:spPr>
          <a:xfrm>
            <a:off x="640080" y="4050792"/>
            <a:ext cx="2926080" cy="566928"/>
          </a:xfrm>
          <a:prstGeom prst="rect">
            <a:avLst/>
          </a:prstGeom>
          <a:solidFill>
            <a:srgbClr val="F5F7FA"/>
          </a:solidFill>
          <a:ln w="6350">
            <a:solidFill>
              <a:srgbClr val="D8DEE7"/>
            </a:solidFill>
            <a:prstDash val="solid"/>
          </a:ln>
        </p:spPr>
      </p:sp>
      <p:sp>
        <p:nvSpPr>
          <p:cNvPr id="38" name="Text 36"/>
          <p:cNvSpPr txBox="1"/>
          <p:nvPr/>
        </p:nvSpPr>
        <p:spPr>
          <a:xfrm>
            <a:off x="640080" y="4050792"/>
            <a:ext cx="2926080" cy="566928"/>
          </a:xfrm>
          <a:prstGeom prst="rect">
            <a:avLst/>
          </a:prstGeom>
          <a:noFill/>
          <a:ln/>
        </p:spPr>
        <p:txBody>
          <a:bodyPr wrap="square" lIns="0" tIns="0" rIns="0" bIns="0" rtlCol="0" anchor="ctr"/>
          <a:lstStyle/>
          <a:p>
            <a:pPr algn="ctr" indent="0" marL="0">
              <a:buNone/>
            </a:pPr>
            <a:r>
              <a:rPr lang="en-US" sz="1250" b="1" dirty="0">
                <a:solidFill>
                  <a:srgbClr val="1B2430"/>
                </a:solidFill>
                <a:latin typeface="Calibri" pitchFamily="34" charset="0"/>
                <a:ea typeface="Calibri" pitchFamily="34" charset="-122"/>
                <a:cs typeface="Calibri" pitchFamily="34" charset="-120"/>
              </a:rPr>
              <a:t>final_price</a:t>
            </a:r>
            <a:endParaRPr lang="en-US" sz="1250" dirty="0"/>
          </a:p>
        </p:txBody>
      </p:sp>
      <p:sp>
        <p:nvSpPr>
          <p:cNvPr id="39" name="Shape 37"/>
          <p:cNvSpPr/>
          <p:nvPr/>
        </p:nvSpPr>
        <p:spPr>
          <a:xfrm>
            <a:off x="3566160" y="4050792"/>
            <a:ext cx="2651760" cy="566928"/>
          </a:xfrm>
          <a:prstGeom prst="rect">
            <a:avLst/>
          </a:prstGeom>
          <a:solidFill>
            <a:srgbClr val="F5F7FA"/>
          </a:solidFill>
          <a:ln w="6350">
            <a:solidFill>
              <a:srgbClr val="D8DEE7"/>
            </a:solidFill>
            <a:prstDash val="solid"/>
          </a:ln>
        </p:spPr>
      </p:sp>
      <p:sp>
        <p:nvSpPr>
          <p:cNvPr id="40" name="Text 38"/>
          <p:cNvSpPr txBox="1"/>
          <p:nvPr/>
        </p:nvSpPr>
        <p:spPr>
          <a:xfrm>
            <a:off x="3566160" y="4050792"/>
            <a:ext cx="2651760" cy="566928"/>
          </a:xfrm>
          <a:prstGeom prst="rect">
            <a:avLst/>
          </a:prstGeom>
          <a:noFill/>
          <a:ln/>
        </p:spPr>
        <p:txBody>
          <a:bodyPr wrap="square" lIns="0" tIns="0" rIns="0" bIns="0" rtlCol="0" anchor="ctr"/>
          <a:lstStyle/>
          <a:p>
            <a:pPr algn="ctr" indent="0" marL="0">
              <a:buNone/>
            </a:pPr>
            <a:r>
              <a:rPr lang="en-US" sz="1250" dirty="0">
                <a:solidFill>
                  <a:srgbClr val="1B2430"/>
                </a:solidFill>
                <a:latin typeface="Calibri" pitchFamily="34" charset="0"/>
                <a:ea typeface="Calibri" pitchFamily="34" charset="-122"/>
                <a:cs typeface="Calibri" pitchFamily="34" charset="-120"/>
              </a:rPr>
              <a:t>1,335</a:t>
            </a:r>
            <a:endParaRPr lang="en-US" sz="1250" dirty="0"/>
          </a:p>
        </p:txBody>
      </p:sp>
      <p:sp>
        <p:nvSpPr>
          <p:cNvPr id="41" name="Shape 39"/>
          <p:cNvSpPr/>
          <p:nvPr/>
        </p:nvSpPr>
        <p:spPr>
          <a:xfrm>
            <a:off x="6217920" y="4050792"/>
            <a:ext cx="2651760" cy="566928"/>
          </a:xfrm>
          <a:prstGeom prst="rect">
            <a:avLst/>
          </a:prstGeom>
          <a:solidFill>
            <a:srgbClr val="F5F7FA"/>
          </a:solidFill>
          <a:ln w="6350">
            <a:solidFill>
              <a:srgbClr val="D8DEE7"/>
            </a:solidFill>
            <a:prstDash val="solid"/>
          </a:ln>
        </p:spPr>
      </p:sp>
      <p:sp>
        <p:nvSpPr>
          <p:cNvPr id="42" name="Text 40"/>
          <p:cNvSpPr txBox="1"/>
          <p:nvPr/>
        </p:nvSpPr>
        <p:spPr>
          <a:xfrm>
            <a:off x="6217920" y="4050792"/>
            <a:ext cx="2651760" cy="566928"/>
          </a:xfrm>
          <a:prstGeom prst="rect">
            <a:avLst/>
          </a:prstGeom>
          <a:noFill/>
          <a:ln/>
        </p:spPr>
        <p:txBody>
          <a:bodyPr wrap="square" lIns="0" tIns="0" rIns="0" bIns="0" rtlCol="0" anchor="ctr"/>
          <a:lstStyle/>
          <a:p>
            <a:pPr algn="ctr" indent="0" marL="0">
              <a:buNone/>
            </a:pPr>
            <a:r>
              <a:rPr lang="en-US" sz="1250" dirty="0">
                <a:solidFill>
                  <a:srgbClr val="1B2430"/>
                </a:solidFill>
                <a:latin typeface="Calibri" pitchFamily="34" charset="0"/>
                <a:ea typeface="Calibri" pitchFamily="34" charset="-122"/>
                <a:cs typeface="Calibri" pitchFamily="34" charset="-120"/>
              </a:rPr>
              <a:t>503</a:t>
            </a:r>
            <a:endParaRPr lang="en-US" sz="1250" dirty="0"/>
          </a:p>
        </p:txBody>
      </p:sp>
      <p:sp>
        <p:nvSpPr>
          <p:cNvPr id="43" name="Shape 41"/>
          <p:cNvSpPr/>
          <p:nvPr/>
        </p:nvSpPr>
        <p:spPr>
          <a:xfrm>
            <a:off x="8869680" y="4050792"/>
            <a:ext cx="2377440" cy="566928"/>
          </a:xfrm>
          <a:prstGeom prst="rect">
            <a:avLst/>
          </a:prstGeom>
          <a:solidFill>
            <a:srgbClr val="F5F7FA"/>
          </a:solidFill>
          <a:ln w="6350">
            <a:solidFill>
              <a:srgbClr val="D8DEE7"/>
            </a:solidFill>
            <a:prstDash val="solid"/>
          </a:ln>
        </p:spPr>
      </p:sp>
      <p:sp>
        <p:nvSpPr>
          <p:cNvPr id="44" name="Text 42"/>
          <p:cNvSpPr txBox="1"/>
          <p:nvPr/>
        </p:nvSpPr>
        <p:spPr>
          <a:xfrm>
            <a:off x="8869680" y="4050792"/>
            <a:ext cx="2377440" cy="566928"/>
          </a:xfrm>
          <a:prstGeom prst="rect">
            <a:avLst/>
          </a:prstGeom>
          <a:noFill/>
          <a:ln/>
        </p:spPr>
        <p:txBody>
          <a:bodyPr wrap="square" lIns="0" tIns="0" rIns="0" bIns="0" rtlCol="0" anchor="ctr"/>
          <a:lstStyle/>
          <a:p>
            <a:pPr algn="ctr" indent="0" marL="0">
              <a:buNone/>
            </a:pPr>
            <a:r>
              <a:rPr lang="en-US" sz="1250" b="1" dirty="0">
                <a:solidFill>
                  <a:srgbClr val="9C6B1F"/>
                </a:solidFill>
                <a:latin typeface="Calibri" pitchFamily="34" charset="0"/>
                <a:ea typeface="Calibri" pitchFamily="34" charset="-122"/>
                <a:cs typeface="Calibri" pitchFamily="34" charset="-120"/>
              </a:rPr>
              <a:t>Flagged</a:t>
            </a:r>
            <a:endParaRPr lang="en-US" sz="1250" dirty="0"/>
          </a:p>
        </p:txBody>
      </p:sp>
      <p:sp>
        <p:nvSpPr>
          <p:cNvPr id="45" name="Shape 43"/>
          <p:cNvSpPr/>
          <p:nvPr/>
        </p:nvSpPr>
        <p:spPr>
          <a:xfrm>
            <a:off x="640080" y="4617720"/>
            <a:ext cx="10607040" cy="1325880"/>
          </a:xfrm>
          <a:prstGeom prst="roundRect">
            <a:avLst>
              <a:gd name="adj" fmla="val 5517"/>
            </a:avLst>
          </a:prstGeom>
          <a:solidFill>
            <a:srgbClr val="FBF1E1"/>
          </a:solidFill>
          <a:ln w="9525">
            <a:solidFill>
              <a:srgbClr val="E8D2A8"/>
            </a:solidFill>
            <a:prstDash val="solid"/>
          </a:ln>
        </p:spPr>
      </p:sp>
      <p:sp>
        <p:nvSpPr>
          <p:cNvPr id="46" name="Text 44"/>
          <p:cNvSpPr txBox="1"/>
          <p:nvPr/>
        </p:nvSpPr>
        <p:spPr>
          <a:xfrm>
            <a:off x="868680" y="4754880"/>
            <a:ext cx="1645920" cy="320040"/>
          </a:xfrm>
          <a:prstGeom prst="rect">
            <a:avLst/>
          </a:prstGeom>
          <a:noFill/>
          <a:ln/>
        </p:spPr>
        <p:txBody>
          <a:bodyPr wrap="square" lIns="0" tIns="0" rIns="0" bIns="0" rtlCol="0" anchor="ctr"/>
          <a:lstStyle/>
          <a:p>
            <a:pPr indent="0" marL="0">
              <a:buNone/>
            </a:pPr>
            <a:r>
              <a:rPr lang="en-US" sz="1200" b="1" dirty="0">
                <a:solidFill>
                  <a:srgbClr val="9C6B1F"/>
                </a:solidFill>
                <a:latin typeface="Calibri" pitchFamily="34" charset="0"/>
                <a:ea typeface="Calibri" pitchFamily="34" charset="-122"/>
                <a:cs typeface="Calibri" pitchFamily="34" charset="-120"/>
              </a:rPr>
              <a:t>Key finding:</a:t>
            </a:r>
            <a:endParaRPr lang="en-US" sz="1200" dirty="0"/>
          </a:p>
        </p:txBody>
      </p:sp>
      <p:sp>
        <p:nvSpPr>
          <p:cNvPr id="47" name="Text 45"/>
          <p:cNvSpPr txBox="1"/>
          <p:nvPr/>
        </p:nvSpPr>
        <p:spPr>
          <a:xfrm>
            <a:off x="868680" y="5074920"/>
            <a:ext cx="10149840" cy="777240"/>
          </a:xfrm>
          <a:prstGeom prst="rect">
            <a:avLst/>
          </a:prstGeom>
          <a:noFill/>
          <a:ln/>
        </p:spPr>
        <p:txBody>
          <a:bodyPr wrap="square" lIns="0" tIns="0" rIns="0" bIns="0" rtlCol="0" anchor="ctr"/>
          <a:lstStyle/>
          <a:p>
            <a:pPr indent="0" marL="0">
              <a:lnSpc>
                <a:spcPct val="120000"/>
              </a:lnSpc>
              <a:buNone/>
            </a:pPr>
            <a:r>
              <a:rPr lang="en-US" sz="1200" dirty="0">
                <a:solidFill>
                  <a:srgbClr val="1B2430"/>
                </a:solidFill>
                <a:latin typeface="Calibri" pitchFamily="34" charset="0"/>
                <a:ea typeface="Calibri" pitchFamily="34" charset="-122"/>
                <a:cs typeface="Calibri" pitchFamily="34" charset="-120"/>
              </a:rPr>
              <a:t>final_price is the only variable with meaningful outliers (~1.3% of transactions by IQR). These align with the right-skew seen earlier and represent a genuine population of high-value orders — not data-entry errors — so they were retained rather than removed.</a:t>
            </a:r>
            <a:endParaRPr lang="en-US" sz="1200" dirty="0"/>
          </a:p>
        </p:txBody>
      </p:sp>
      <p:sp>
        <p:nvSpPr>
          <p:cNvPr id="48" name="Text 46"/>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49" name="Text 47"/>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40080" y="502920"/>
            <a:ext cx="1280160" cy="320040"/>
          </a:xfrm>
          <a:prstGeom prst="roundRect">
            <a:avLst>
              <a:gd name="adj" fmla="val 22857"/>
            </a:avLst>
          </a:prstGeom>
          <a:solidFill>
            <a:srgbClr val="2C3E50"/>
          </a:solidFill>
          <a:ln/>
        </p:spPr>
      </p:sp>
      <p:sp>
        <p:nvSpPr>
          <p:cNvPr id="3" name="Text 1"/>
          <p:cNvSpPr txBox="1"/>
          <p:nvPr/>
        </p:nvSpPr>
        <p:spPr>
          <a:xfrm>
            <a:off x="640080" y="502920"/>
            <a:ext cx="128016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BIVARIATE</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What drives the final price?</a:t>
            </a:r>
            <a:endParaRPr lang="en-US" sz="2800" dirty="0"/>
          </a:p>
        </p:txBody>
      </p:sp>
      <p:graphicFrame>
        <p:nvGraphicFramePr>
          <p:cNvPr id="5" name="Chart 0" descr=""/>
          <p:cNvGraphicFramePr/>
          <p:nvPr/>
        </p:nvGraphicFramePr>
        <p:xfrm>
          <a:off x="640080" y="1783080"/>
          <a:ext cx="667512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89520" y="1783080"/>
            <a:ext cx="3657600" cy="1691640"/>
          </a:xfrm>
          <a:prstGeom prst="roundRect">
            <a:avLst>
              <a:gd name="adj" fmla="val 4324"/>
            </a:avLst>
          </a:prstGeom>
          <a:solidFill>
            <a:srgbClr val="FFFFFF"/>
          </a:solidFill>
          <a:ln w="9525">
            <a:solidFill>
              <a:srgbClr val="D8DEE7"/>
            </a:solidFill>
            <a:prstDash val="solid"/>
          </a:ln>
        </p:spPr>
      </p:sp>
      <p:sp>
        <p:nvSpPr>
          <p:cNvPr id="7" name="Text 4"/>
          <p:cNvSpPr txBox="1"/>
          <p:nvPr/>
        </p:nvSpPr>
        <p:spPr>
          <a:xfrm>
            <a:off x="7818120" y="1920240"/>
            <a:ext cx="3200400" cy="274320"/>
          </a:xfrm>
          <a:prstGeom prst="rect">
            <a:avLst/>
          </a:prstGeom>
          <a:noFill/>
          <a:ln/>
        </p:spPr>
        <p:txBody>
          <a:bodyPr wrap="square" lIns="0" tIns="0" rIns="0" bIns="0" rtlCol="0" anchor="ctr"/>
          <a:lstStyle/>
          <a:p>
            <a:pPr indent="0" marL="0">
              <a:buNone/>
            </a:pPr>
            <a:r>
              <a:rPr lang="en-US" sz="1000" b="1" spc="100" kern="0" dirty="0">
                <a:solidFill>
                  <a:srgbClr val="3AA0FF"/>
                </a:solidFill>
                <a:latin typeface="Calibri" pitchFamily="34" charset="0"/>
                <a:ea typeface="Calibri" pitchFamily="34" charset="-122"/>
                <a:cs typeface="Calibri" pitchFamily="34" charset="-120"/>
              </a:rPr>
              <a:t>STRONG DRIVERS</a:t>
            </a:r>
            <a:endParaRPr lang="en-US" sz="1000" dirty="0"/>
          </a:p>
        </p:txBody>
      </p:sp>
      <p:sp>
        <p:nvSpPr>
          <p:cNvPr id="8" name="Text 5"/>
          <p:cNvSpPr txBox="1"/>
          <p:nvPr/>
        </p:nvSpPr>
        <p:spPr>
          <a:xfrm>
            <a:off x="7818120" y="2240280"/>
            <a:ext cx="3200400" cy="731520"/>
          </a:xfrm>
          <a:prstGeom prst="rect">
            <a:avLst/>
          </a:prstGeom>
          <a:noFill/>
          <a:ln/>
        </p:spPr>
        <p:txBody>
          <a:bodyPr wrap="square" lIns="0" tIns="0" rIns="0" bIns="0" rtlCol="0" anchor="ctr"/>
          <a:lstStyle/>
          <a:p>
            <a:pPr indent="0" marL="0">
              <a:lnSpc>
                <a:spcPct val="120000"/>
              </a:lnSpc>
              <a:buNone/>
            </a:pPr>
            <a:r>
              <a:rPr lang="en-US" sz="1600" b="1" dirty="0">
                <a:solidFill>
                  <a:srgbClr val="2C3E50"/>
                </a:solidFill>
                <a:latin typeface="Cambria" pitchFamily="34" charset="0"/>
                <a:ea typeface="Cambria" pitchFamily="34" charset="-122"/>
                <a:cs typeface="Cambria" pitchFamily="34" charset="-120"/>
              </a:rPr>
              <a:t>Product Price (0.73)</a:t>
            </a:r>
            <a:endParaRPr lang="en-US" sz="1600" dirty="0"/>
          </a:p>
          <a:p>
            <a:pPr indent="0" marL="0">
              <a:lnSpc>
                <a:spcPct val="120000"/>
              </a:lnSpc>
              <a:buNone/>
            </a:pPr>
            <a:r>
              <a:rPr lang="en-US" sz="1600" b="1" dirty="0">
                <a:solidFill>
                  <a:srgbClr val="2C3E50"/>
                </a:solidFill>
                <a:latin typeface="Cambria" pitchFamily="34" charset="0"/>
                <a:ea typeface="Cambria" pitchFamily="34" charset="-122"/>
                <a:cs typeface="Cambria" pitchFamily="34" charset="-120"/>
              </a:rPr>
              <a:t>Quantity (0.58)</a:t>
            </a:r>
            <a:endParaRPr lang="en-US" sz="1600" dirty="0"/>
          </a:p>
        </p:txBody>
      </p:sp>
      <p:sp>
        <p:nvSpPr>
          <p:cNvPr id="9" name="Text 6"/>
          <p:cNvSpPr txBox="1"/>
          <p:nvPr/>
        </p:nvSpPr>
        <p:spPr>
          <a:xfrm>
            <a:off x="7818120" y="3017520"/>
            <a:ext cx="3200400" cy="411480"/>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Together these explain most of the variation in final_price</a:t>
            </a:r>
            <a:endParaRPr lang="en-US" sz="1050" dirty="0"/>
          </a:p>
        </p:txBody>
      </p:sp>
      <p:sp>
        <p:nvSpPr>
          <p:cNvPr id="10" name="Shape 7"/>
          <p:cNvSpPr/>
          <p:nvPr/>
        </p:nvSpPr>
        <p:spPr>
          <a:xfrm>
            <a:off x="7589520" y="3657600"/>
            <a:ext cx="3657600" cy="2286000"/>
          </a:xfrm>
          <a:prstGeom prst="roundRect">
            <a:avLst>
              <a:gd name="adj" fmla="val 3200"/>
            </a:avLst>
          </a:prstGeom>
          <a:solidFill>
            <a:srgbClr val="FFFFFF"/>
          </a:solidFill>
          <a:ln w="9525">
            <a:solidFill>
              <a:srgbClr val="D8DEE7"/>
            </a:solidFill>
            <a:prstDash val="solid"/>
          </a:ln>
        </p:spPr>
      </p:sp>
      <p:sp>
        <p:nvSpPr>
          <p:cNvPr id="11" name="Text 8"/>
          <p:cNvSpPr txBox="1"/>
          <p:nvPr/>
        </p:nvSpPr>
        <p:spPr>
          <a:xfrm>
            <a:off x="7818120" y="3794760"/>
            <a:ext cx="3200400" cy="274320"/>
          </a:xfrm>
          <a:prstGeom prst="rect">
            <a:avLst/>
          </a:prstGeom>
          <a:noFill/>
          <a:ln/>
        </p:spPr>
        <p:txBody>
          <a:bodyPr wrap="square" lIns="0" tIns="0" rIns="0" bIns="0" rtlCol="0" anchor="ctr"/>
          <a:lstStyle/>
          <a:p>
            <a:pPr indent="0" marL="0">
              <a:buNone/>
            </a:pPr>
            <a:r>
              <a:rPr lang="en-US" sz="1000" b="1" spc="100" kern="0" dirty="0">
                <a:solidFill>
                  <a:srgbClr val="3AA0FF"/>
                </a:solidFill>
                <a:latin typeface="Calibri" pitchFamily="34" charset="0"/>
                <a:ea typeface="Calibri" pitchFamily="34" charset="-122"/>
                <a:cs typeface="Calibri" pitchFamily="34" charset="-120"/>
              </a:rPr>
              <a:t>WEAK / NO EFFECT</a:t>
            </a:r>
            <a:endParaRPr lang="en-US" sz="1000" dirty="0"/>
          </a:p>
        </p:txBody>
      </p:sp>
      <p:sp>
        <p:nvSpPr>
          <p:cNvPr id="12" name="Text 9"/>
          <p:cNvSpPr txBox="1"/>
          <p:nvPr/>
        </p:nvSpPr>
        <p:spPr>
          <a:xfrm>
            <a:off x="7818120" y="4114800"/>
            <a:ext cx="3200400" cy="822960"/>
          </a:xfrm>
          <a:prstGeom prst="rect">
            <a:avLst/>
          </a:prstGeom>
          <a:noFill/>
          <a:ln/>
        </p:spPr>
        <p:txBody>
          <a:bodyPr wrap="square" lIns="0" tIns="0" rIns="0" bIns="0" rtlCol="0" anchor="ctr"/>
          <a:lstStyle/>
          <a:p>
            <a:pPr indent="0" marL="0">
              <a:lnSpc>
                <a:spcPct val="120000"/>
              </a:lnSpc>
              <a:buNone/>
            </a:pPr>
            <a:r>
              <a:rPr lang="en-US" sz="1300" b="1" dirty="0">
                <a:solidFill>
                  <a:srgbClr val="2C3E50"/>
                </a:solidFill>
                <a:latin typeface="Calibri" pitchFamily="34" charset="0"/>
                <a:ea typeface="Calibri" pitchFamily="34" charset="-122"/>
                <a:cs typeface="Calibri" pitchFamily="34" charset="-120"/>
              </a:rPr>
              <a:t>Discount % (-0.14), Age (0.00), Delivery Days (0.00)</a:t>
            </a:r>
            <a:endParaRPr lang="en-US" sz="1300" dirty="0"/>
          </a:p>
        </p:txBody>
      </p:sp>
      <p:sp>
        <p:nvSpPr>
          <p:cNvPr id="13" name="Text 10"/>
          <p:cNvSpPr txBox="1"/>
          <p:nvPr/>
        </p:nvSpPr>
        <p:spPr>
          <a:xfrm>
            <a:off x="7818120" y="4983480"/>
            <a:ext cx="3200400" cy="822960"/>
          </a:xfrm>
          <a:prstGeom prst="rect">
            <a:avLst/>
          </a:prstGeom>
          <a:noFill/>
          <a:ln/>
        </p:spPr>
        <p:txBody>
          <a:bodyPr wrap="square" lIns="0" tIns="0" rIns="0" bIns="0"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Discounting only mildly lowers final price and does not meaningfully lift order value — age and delivery time play no real role</a:t>
            </a:r>
            <a:endParaRPr lang="en-US" sz="1050" dirty="0"/>
          </a:p>
        </p:txBody>
      </p:sp>
      <p:sp>
        <p:nvSpPr>
          <p:cNvPr id="14" name="Text 11"/>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15" name="Text 12"/>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463040" cy="320040"/>
          </a:xfrm>
          <a:prstGeom prst="roundRect">
            <a:avLst>
              <a:gd name="adj" fmla="val 22857"/>
            </a:avLst>
          </a:prstGeom>
          <a:solidFill>
            <a:srgbClr val="2C3E50"/>
          </a:solidFill>
          <a:ln/>
        </p:spPr>
      </p:sp>
      <p:sp>
        <p:nvSpPr>
          <p:cNvPr id="3" name="Text 1"/>
          <p:cNvSpPr txBox="1"/>
          <p:nvPr/>
        </p:nvSpPr>
        <p:spPr>
          <a:xfrm>
            <a:off x="640080" y="502920"/>
            <a:ext cx="146304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CORRELATION</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Full correlation matrix</a:t>
            </a:r>
            <a:endParaRPr lang="en-US" sz="2800" dirty="0"/>
          </a:p>
        </p:txBody>
      </p:sp>
      <p:pic>
        <p:nvPicPr>
          <p:cNvPr id="5" name="Image 0" descr="/home/claude/ppt/corr_heatmap.png">    </p:cNvPr>
          <p:cNvPicPr>
            <a:picLocks noChangeAspect="1"/>
          </p:cNvPicPr>
          <p:nvPr/>
        </p:nvPicPr>
        <p:blipFill>
          <a:blip r:embed="rId1"/>
          <a:stretch>
            <a:fillRect/>
          </a:stretch>
        </p:blipFill>
        <p:spPr>
          <a:xfrm>
            <a:off x="822960" y="1691640"/>
            <a:ext cx="5120640" cy="4206240"/>
          </a:xfrm>
          <a:prstGeom prst="rect">
            <a:avLst/>
          </a:prstGeom>
        </p:spPr>
      </p:pic>
      <p:sp>
        <p:nvSpPr>
          <p:cNvPr id="6" name="Shape 3"/>
          <p:cNvSpPr/>
          <p:nvPr/>
        </p:nvSpPr>
        <p:spPr>
          <a:xfrm>
            <a:off x="6309360" y="1828800"/>
            <a:ext cx="1005840" cy="502920"/>
          </a:xfrm>
          <a:prstGeom prst="roundRect">
            <a:avLst>
              <a:gd name="adj" fmla="val 10909"/>
            </a:avLst>
          </a:prstGeom>
          <a:solidFill>
            <a:srgbClr val="2C3E50"/>
          </a:solidFill>
          <a:ln/>
        </p:spPr>
      </p:sp>
      <p:sp>
        <p:nvSpPr>
          <p:cNvPr id="7" name="Text 4"/>
          <p:cNvSpPr txBox="1"/>
          <p:nvPr/>
        </p:nvSpPr>
        <p:spPr>
          <a:xfrm>
            <a:off x="6309360" y="1828800"/>
            <a:ext cx="10058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0.73</a:t>
            </a:r>
            <a:endParaRPr lang="en-US" sz="1400" dirty="0"/>
          </a:p>
        </p:txBody>
      </p:sp>
      <p:sp>
        <p:nvSpPr>
          <p:cNvPr id="8" name="Text 5"/>
          <p:cNvSpPr txBox="1"/>
          <p:nvPr/>
        </p:nvSpPr>
        <p:spPr>
          <a:xfrm>
            <a:off x="7452360" y="1847088"/>
            <a:ext cx="3794760" cy="640080"/>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product_price ↔ final_price — strongest relationship in the dataset</a:t>
            </a:r>
            <a:endParaRPr lang="en-US" sz="1150" dirty="0"/>
          </a:p>
        </p:txBody>
      </p:sp>
      <p:sp>
        <p:nvSpPr>
          <p:cNvPr id="9" name="Shape 6"/>
          <p:cNvSpPr/>
          <p:nvPr/>
        </p:nvSpPr>
        <p:spPr>
          <a:xfrm>
            <a:off x="6309360" y="2697480"/>
            <a:ext cx="1005840" cy="502920"/>
          </a:xfrm>
          <a:prstGeom prst="roundRect">
            <a:avLst>
              <a:gd name="adj" fmla="val 10909"/>
            </a:avLst>
          </a:prstGeom>
          <a:solidFill>
            <a:srgbClr val="2C3E50"/>
          </a:solidFill>
          <a:ln/>
        </p:spPr>
      </p:sp>
      <p:sp>
        <p:nvSpPr>
          <p:cNvPr id="10" name="Text 7"/>
          <p:cNvSpPr txBox="1"/>
          <p:nvPr/>
        </p:nvSpPr>
        <p:spPr>
          <a:xfrm>
            <a:off x="6309360" y="2697480"/>
            <a:ext cx="10058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0.58</a:t>
            </a:r>
            <a:endParaRPr lang="en-US" sz="1400" dirty="0"/>
          </a:p>
        </p:txBody>
      </p:sp>
      <p:sp>
        <p:nvSpPr>
          <p:cNvPr id="11" name="Text 8"/>
          <p:cNvSpPr txBox="1"/>
          <p:nvPr/>
        </p:nvSpPr>
        <p:spPr>
          <a:xfrm>
            <a:off x="7452360" y="2715768"/>
            <a:ext cx="3794760" cy="640080"/>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quantity ↔ final_price — more units reliably means higher spend</a:t>
            </a:r>
            <a:endParaRPr lang="en-US" sz="1150" dirty="0"/>
          </a:p>
        </p:txBody>
      </p:sp>
      <p:sp>
        <p:nvSpPr>
          <p:cNvPr id="12" name="Shape 9"/>
          <p:cNvSpPr/>
          <p:nvPr/>
        </p:nvSpPr>
        <p:spPr>
          <a:xfrm>
            <a:off x="6309360" y="3566160"/>
            <a:ext cx="1005840" cy="502920"/>
          </a:xfrm>
          <a:prstGeom prst="roundRect">
            <a:avLst>
              <a:gd name="adj" fmla="val 10909"/>
            </a:avLst>
          </a:prstGeom>
          <a:solidFill>
            <a:srgbClr val="2C3E50"/>
          </a:solidFill>
          <a:ln/>
        </p:spPr>
      </p:sp>
      <p:sp>
        <p:nvSpPr>
          <p:cNvPr id="13" name="Text 10"/>
          <p:cNvSpPr txBox="1"/>
          <p:nvPr/>
        </p:nvSpPr>
        <p:spPr>
          <a:xfrm>
            <a:off x="6309360" y="3566160"/>
            <a:ext cx="10058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-0.14</a:t>
            </a:r>
            <a:endParaRPr lang="en-US" sz="1400" dirty="0"/>
          </a:p>
        </p:txBody>
      </p:sp>
      <p:sp>
        <p:nvSpPr>
          <p:cNvPr id="14" name="Text 11"/>
          <p:cNvSpPr txBox="1"/>
          <p:nvPr/>
        </p:nvSpPr>
        <p:spPr>
          <a:xfrm>
            <a:off x="7452360" y="3584448"/>
            <a:ext cx="3794760" cy="640080"/>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discount % ↔ final_price — weak, as expected</a:t>
            </a:r>
            <a:endParaRPr lang="en-US" sz="1150" dirty="0"/>
          </a:p>
        </p:txBody>
      </p:sp>
      <p:sp>
        <p:nvSpPr>
          <p:cNvPr id="15" name="Shape 12"/>
          <p:cNvSpPr/>
          <p:nvPr/>
        </p:nvSpPr>
        <p:spPr>
          <a:xfrm>
            <a:off x="6309360" y="4434840"/>
            <a:ext cx="1005840" cy="502920"/>
          </a:xfrm>
          <a:prstGeom prst="roundRect">
            <a:avLst>
              <a:gd name="adj" fmla="val 10909"/>
            </a:avLst>
          </a:prstGeom>
          <a:solidFill>
            <a:srgbClr val="2C3E50"/>
          </a:solidFill>
          <a:ln/>
        </p:spPr>
      </p:sp>
      <p:sp>
        <p:nvSpPr>
          <p:cNvPr id="16" name="Text 13"/>
          <p:cNvSpPr txBox="1"/>
          <p:nvPr/>
        </p:nvSpPr>
        <p:spPr>
          <a:xfrm>
            <a:off x="6309360" y="4434840"/>
            <a:ext cx="10058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≈0.00</a:t>
            </a:r>
            <a:endParaRPr lang="en-US" sz="1400" dirty="0"/>
          </a:p>
        </p:txBody>
      </p:sp>
      <p:sp>
        <p:nvSpPr>
          <p:cNvPr id="17" name="Text 14"/>
          <p:cNvSpPr txBox="1"/>
          <p:nvPr/>
        </p:nvSpPr>
        <p:spPr>
          <a:xfrm>
            <a:off x="7452360" y="4453128"/>
            <a:ext cx="3794760" cy="640080"/>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age &amp; delivery_days — essentially unrelated to spend</a:t>
            </a:r>
            <a:endParaRPr lang="en-US" sz="1150" dirty="0"/>
          </a:p>
        </p:txBody>
      </p:sp>
      <p:sp>
        <p:nvSpPr>
          <p:cNvPr id="18" name="Text 15"/>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19" name="Text 16"/>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40080" y="502920"/>
            <a:ext cx="1554480" cy="320040"/>
          </a:xfrm>
          <a:prstGeom prst="roundRect">
            <a:avLst>
              <a:gd name="adj" fmla="val 22857"/>
            </a:avLst>
          </a:prstGeom>
          <a:solidFill>
            <a:srgbClr val="2C3E50"/>
          </a:solidFill>
          <a:ln/>
        </p:spPr>
      </p:sp>
      <p:sp>
        <p:nvSpPr>
          <p:cNvPr id="3" name="Text 1"/>
          <p:cNvSpPr txBox="1"/>
          <p:nvPr/>
        </p:nvSpPr>
        <p:spPr>
          <a:xfrm>
            <a:off x="640080" y="502920"/>
            <a:ext cx="155448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MULTIVARIATE</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Customer segment spending</a:t>
            </a:r>
            <a:endParaRPr lang="en-US" sz="2800" dirty="0"/>
          </a:p>
        </p:txBody>
      </p:sp>
      <p:graphicFrame>
        <p:nvGraphicFramePr>
          <p:cNvPr id="5" name="Chart 0" descr=""/>
          <p:cNvGraphicFramePr/>
          <p:nvPr/>
        </p:nvGraphicFramePr>
        <p:xfrm>
          <a:off x="640080" y="1783080"/>
          <a:ext cx="630936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223760" y="1783080"/>
            <a:ext cx="4023360" cy="4114800"/>
          </a:xfrm>
          <a:prstGeom prst="roundRect">
            <a:avLst>
              <a:gd name="adj" fmla="val 1818"/>
            </a:avLst>
          </a:prstGeom>
          <a:solidFill>
            <a:srgbClr val="FBF1E1"/>
          </a:solidFill>
          <a:ln w="9525">
            <a:solidFill>
              <a:srgbClr val="E8D2A8"/>
            </a:solidFill>
            <a:prstDash val="solid"/>
          </a:ln>
        </p:spPr>
      </p:sp>
      <p:sp>
        <p:nvSpPr>
          <p:cNvPr id="7" name="Text 4"/>
          <p:cNvSpPr txBox="1"/>
          <p:nvPr/>
        </p:nvSpPr>
        <p:spPr>
          <a:xfrm>
            <a:off x="7452360" y="1965960"/>
            <a:ext cx="3566160" cy="274320"/>
          </a:xfrm>
          <a:prstGeom prst="rect">
            <a:avLst/>
          </a:prstGeom>
          <a:noFill/>
          <a:ln/>
        </p:spPr>
        <p:txBody>
          <a:bodyPr wrap="square" lIns="0" tIns="0" rIns="0" bIns="0" rtlCol="0" anchor="ctr"/>
          <a:lstStyle/>
          <a:p>
            <a:pPr indent="0" marL="0">
              <a:buNone/>
            </a:pPr>
            <a:r>
              <a:rPr lang="en-US" sz="1000" b="1" spc="100" kern="0" dirty="0">
                <a:solidFill>
                  <a:srgbClr val="9C6B1F"/>
                </a:solidFill>
                <a:latin typeface="Calibri" pitchFamily="34" charset="0"/>
                <a:ea typeface="Calibri" pitchFamily="34" charset="-122"/>
                <a:cs typeface="Calibri" pitchFamily="34" charset="-120"/>
              </a:rPr>
              <a:t>OPPORTUNITY</a:t>
            </a:r>
            <a:endParaRPr lang="en-US" sz="1000" dirty="0"/>
          </a:p>
        </p:txBody>
      </p:sp>
      <p:sp>
        <p:nvSpPr>
          <p:cNvPr id="8" name="Text 5"/>
          <p:cNvSpPr txBox="1"/>
          <p:nvPr/>
        </p:nvSpPr>
        <p:spPr>
          <a:xfrm>
            <a:off x="7452360" y="2286000"/>
            <a:ext cx="3566160" cy="45720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Loyalty isn't paying off yet</a:t>
            </a:r>
            <a:endParaRPr lang="en-US" sz="1700" dirty="0"/>
          </a:p>
        </p:txBody>
      </p:sp>
      <p:sp>
        <p:nvSpPr>
          <p:cNvPr id="9" name="Text 6"/>
          <p:cNvSpPr txBox="1"/>
          <p:nvPr/>
        </p:nvSpPr>
        <p:spPr>
          <a:xfrm>
            <a:off x="7452360" y="2834640"/>
            <a:ext cx="3566160" cy="1463040"/>
          </a:xfrm>
          <a:prstGeom prst="rect">
            <a:avLst/>
          </a:prstGeom>
          <a:noFill/>
          <a:ln/>
        </p:spPr>
        <p:txBody>
          <a:bodyPr wrap="square" lIns="0" tIns="0" rIns="0" bIns="0" rtlCol="0" anchor="ctr"/>
          <a:lstStyle/>
          <a:p>
            <a:pPr indent="0" marL="0">
              <a:lnSpc>
                <a:spcPct val="125000"/>
              </a:lnSpc>
              <a:buNone/>
            </a:pPr>
            <a:r>
              <a:rPr lang="en-US" sz="1150" dirty="0">
                <a:solidFill>
                  <a:srgbClr val="1B2430"/>
                </a:solidFill>
                <a:latin typeface="Calibri" pitchFamily="34" charset="0"/>
                <a:ea typeface="Calibri" pitchFamily="34" charset="-122"/>
                <a:cs typeface="Calibri" pitchFamily="34" charset="-120"/>
              </a:rPr>
              <a:t>Premium customers spend only ₹663 more on average than New customers — less than 1% difference. The segment tiers currently show almost no differentiation in spending behavior.</a:t>
            </a:r>
            <a:endParaRPr lang="en-US" sz="1150" dirty="0"/>
          </a:p>
        </p:txBody>
      </p:sp>
      <p:sp>
        <p:nvSpPr>
          <p:cNvPr id="10" name="Text 7"/>
          <p:cNvSpPr txBox="1"/>
          <p:nvPr/>
        </p:nvSpPr>
        <p:spPr>
          <a:xfrm>
            <a:off x="7452360" y="4343400"/>
            <a:ext cx="3566160" cy="1371600"/>
          </a:xfrm>
          <a:prstGeom prst="rect">
            <a:avLst/>
          </a:prstGeom>
          <a:noFill/>
          <a:ln/>
        </p:spPr>
        <p:txBody>
          <a:bodyPr wrap="square" lIns="0" tIns="0" rIns="0" bIns="0" rtlCol="0" anchor="ctr"/>
          <a:lstStyle/>
          <a:p>
            <a:pPr indent="0" marL="0">
              <a:lnSpc>
                <a:spcPct val="125000"/>
              </a:lnSpc>
              <a:buNone/>
            </a:pPr>
            <a:r>
              <a:rPr lang="en-US" sz="1150" i="1" dirty="0">
                <a:solidFill>
                  <a:srgbClr val="9C6B1F"/>
                </a:solidFill>
                <a:latin typeface="Calibri" pitchFamily="34" charset="0"/>
                <a:ea typeface="Calibri" pitchFamily="34" charset="-122"/>
                <a:cs typeface="Calibri" pitchFamily="34" charset="-120"/>
              </a:rPr>
              <a:t>This suggests the Premium tier's perks aren't currently incentivizing higher spend — a clear lever for improvement (see recommendations).</a:t>
            </a:r>
            <a:endParaRPr lang="en-US" sz="1150" dirty="0"/>
          </a:p>
        </p:txBody>
      </p:sp>
      <p:sp>
        <p:nvSpPr>
          <p:cNvPr id="11" name="Text 8"/>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12" name="Text 9"/>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554480" cy="320040"/>
          </a:xfrm>
          <a:prstGeom prst="roundRect">
            <a:avLst>
              <a:gd name="adj" fmla="val 22857"/>
            </a:avLst>
          </a:prstGeom>
          <a:solidFill>
            <a:srgbClr val="2C3E50"/>
          </a:solidFill>
          <a:ln/>
        </p:spPr>
      </p:sp>
      <p:sp>
        <p:nvSpPr>
          <p:cNvPr id="3" name="Text 1"/>
          <p:cNvSpPr txBox="1"/>
          <p:nvPr/>
        </p:nvSpPr>
        <p:spPr>
          <a:xfrm>
            <a:off x="640080" y="502920"/>
            <a:ext cx="155448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MULTIVARIATE</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Product category performance</a:t>
            </a:r>
            <a:endParaRPr lang="en-US" sz="2800" dirty="0"/>
          </a:p>
        </p:txBody>
      </p:sp>
      <p:graphicFrame>
        <p:nvGraphicFramePr>
          <p:cNvPr id="5" name="Chart 0" descr=""/>
          <p:cNvGraphicFramePr/>
          <p:nvPr/>
        </p:nvGraphicFramePr>
        <p:xfrm>
          <a:off x="640080" y="1737360"/>
          <a:ext cx="548640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309360" y="1737360"/>
          <a:ext cx="4937760" cy="41148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640080" y="5989320"/>
            <a:ext cx="10607040" cy="457200"/>
          </a:xfrm>
          <a:prstGeom prst="rect">
            <a:avLst/>
          </a:prstGeom>
          <a:noFill/>
          <a:ln/>
        </p:spPr>
        <p:txBody>
          <a:bodyPr wrap="square" lIns="0" tIns="0" rIns="0" bIns="0" rtlCol="0" anchor="ctr"/>
          <a:lstStyle/>
          <a:p>
            <a:pPr indent="0" marL="0">
              <a:buNone/>
            </a:pPr>
            <a:r>
              <a:rPr lang="en-US" sz="1150" i="1" dirty="0">
                <a:solidFill>
                  <a:srgbClr val="5B6472"/>
                </a:solidFill>
                <a:latin typeface="Calibri" pitchFamily="34" charset="0"/>
                <a:ea typeface="Calibri" pitchFamily="34" charset="-122"/>
                <a:cs typeface="Calibri" pitchFamily="34" charset="-120"/>
              </a:rPr>
              <a:t>Revenue is evenly diversified across categories, but Fashion combines average revenue with the highest return rate — a likely sizing/fit issue worth investigating.</a:t>
            </a:r>
            <a:endParaRPr lang="en-US" sz="1150" dirty="0"/>
          </a:p>
        </p:txBody>
      </p:sp>
      <p:sp>
        <p:nvSpPr>
          <p:cNvPr id="8" name="Text 4"/>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9" name="Text 5"/>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40080" y="502920"/>
            <a:ext cx="1097280" cy="320040"/>
          </a:xfrm>
          <a:prstGeom prst="roundRect">
            <a:avLst>
              <a:gd name="adj" fmla="val 22857"/>
            </a:avLst>
          </a:prstGeom>
          <a:solidFill>
            <a:srgbClr val="2C3E50"/>
          </a:solidFill>
          <a:ln/>
        </p:spPr>
      </p:sp>
      <p:sp>
        <p:nvSpPr>
          <p:cNvPr id="3" name="Text 1"/>
          <p:cNvSpPr txBox="1"/>
          <p:nvPr/>
        </p:nvSpPr>
        <p:spPr>
          <a:xfrm>
            <a:off x="640080" y="502920"/>
            <a:ext cx="109728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RETURNS</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Returns are consistent, not logistics-driven</a:t>
            </a:r>
            <a:endParaRPr lang="en-US" sz="2800" dirty="0"/>
          </a:p>
        </p:txBody>
      </p:sp>
      <p:sp>
        <p:nvSpPr>
          <p:cNvPr id="5" name="Shape 3"/>
          <p:cNvSpPr/>
          <p:nvPr/>
        </p:nvSpPr>
        <p:spPr>
          <a:xfrm>
            <a:off x="640080" y="1828800"/>
            <a:ext cx="3429000" cy="1463040"/>
          </a:xfrm>
          <a:prstGeom prst="roundRect">
            <a:avLst>
              <a:gd name="adj" fmla="val 5000"/>
            </a:avLst>
          </a:prstGeom>
          <a:solidFill>
            <a:srgbClr val="F5F7FA"/>
          </a:solidFill>
          <a:ln w="9525">
            <a:solidFill>
              <a:srgbClr val="D8DEE7"/>
            </a:solidFill>
            <a:prstDash val="solid"/>
          </a:ln>
        </p:spPr>
      </p:sp>
      <p:sp>
        <p:nvSpPr>
          <p:cNvPr id="6" name="Text 4"/>
          <p:cNvSpPr txBox="1"/>
          <p:nvPr/>
        </p:nvSpPr>
        <p:spPr>
          <a:xfrm>
            <a:off x="777240" y="1938528"/>
            <a:ext cx="3154680" cy="804672"/>
          </a:xfrm>
          <a:prstGeom prst="rect">
            <a:avLst/>
          </a:prstGeom>
          <a:noFill/>
          <a:ln/>
        </p:spPr>
        <p:txBody>
          <a:bodyPr wrap="square" lIns="0" tIns="0" rIns="0" bIns="0" rtlCol="0" anchor="ctr"/>
          <a:lstStyle/>
          <a:p>
            <a:pPr algn="l" indent="0" marL="0">
              <a:buNone/>
            </a:pPr>
            <a:r>
              <a:rPr lang="en-US" sz="2600" b="1" dirty="0">
                <a:solidFill>
                  <a:srgbClr val="2C3E50"/>
                </a:solidFill>
                <a:latin typeface="Cambria" pitchFamily="34" charset="0"/>
                <a:ea typeface="Cambria" pitchFamily="34" charset="-122"/>
                <a:cs typeface="Cambria" pitchFamily="34" charset="-120"/>
              </a:rPr>
              <a:t>14.8%</a:t>
            </a:r>
            <a:endParaRPr lang="en-US" sz="2600" dirty="0"/>
          </a:p>
        </p:txBody>
      </p:sp>
      <p:sp>
        <p:nvSpPr>
          <p:cNvPr id="7" name="Text 5"/>
          <p:cNvSpPr txBox="1"/>
          <p:nvPr/>
        </p:nvSpPr>
        <p:spPr>
          <a:xfrm>
            <a:off x="777240" y="2706624"/>
            <a:ext cx="3154680" cy="555955"/>
          </a:xfrm>
          <a:prstGeom prst="rect">
            <a:avLst/>
          </a:prstGeom>
          <a:noFill/>
          <a:ln/>
        </p:spPr>
        <p:txBody>
          <a:bodyPr wrap="square" lIns="0" tIns="0" rIns="0" bIns="0" rtlCol="0" anchor="ctr"/>
          <a:lstStyle/>
          <a:p>
            <a:pPr algn="l" indent="0" marL="0">
              <a:buNone/>
            </a:pPr>
            <a:r>
              <a:rPr lang="en-US" sz="1150" dirty="0">
                <a:solidFill>
                  <a:srgbClr val="5B6472"/>
                </a:solidFill>
                <a:latin typeface="Calibri" pitchFamily="34" charset="0"/>
                <a:ea typeface="Calibri" pitchFamily="34" charset="-122"/>
                <a:cs typeface="Calibri" pitchFamily="34" charset="-120"/>
              </a:rPr>
              <a:t>Overall return rate</a:t>
            </a:r>
            <a:endParaRPr lang="en-US" sz="1150" dirty="0"/>
          </a:p>
        </p:txBody>
      </p:sp>
      <p:sp>
        <p:nvSpPr>
          <p:cNvPr id="8" name="Shape 6"/>
          <p:cNvSpPr/>
          <p:nvPr/>
        </p:nvSpPr>
        <p:spPr>
          <a:xfrm>
            <a:off x="4389120" y="1828800"/>
            <a:ext cx="3429000" cy="1463040"/>
          </a:xfrm>
          <a:prstGeom prst="roundRect">
            <a:avLst>
              <a:gd name="adj" fmla="val 5000"/>
            </a:avLst>
          </a:prstGeom>
          <a:solidFill>
            <a:srgbClr val="F5F7FA"/>
          </a:solidFill>
          <a:ln w="9525">
            <a:solidFill>
              <a:srgbClr val="D8DEE7"/>
            </a:solidFill>
            <a:prstDash val="solid"/>
          </a:ln>
        </p:spPr>
      </p:sp>
      <p:sp>
        <p:nvSpPr>
          <p:cNvPr id="9" name="Text 7"/>
          <p:cNvSpPr txBox="1"/>
          <p:nvPr/>
        </p:nvSpPr>
        <p:spPr>
          <a:xfrm>
            <a:off x="4526280" y="1938528"/>
            <a:ext cx="3154680" cy="804672"/>
          </a:xfrm>
          <a:prstGeom prst="rect">
            <a:avLst/>
          </a:prstGeom>
          <a:noFill/>
          <a:ln/>
        </p:spPr>
        <p:txBody>
          <a:bodyPr wrap="square" lIns="0" tIns="0" rIns="0" bIns="0" rtlCol="0" anchor="ctr"/>
          <a:lstStyle/>
          <a:p>
            <a:pPr algn="l" indent="0" marL="0">
              <a:buNone/>
            </a:pPr>
            <a:r>
              <a:rPr lang="en-US" sz="2600" b="1" dirty="0">
                <a:solidFill>
                  <a:srgbClr val="2C3E50"/>
                </a:solidFill>
                <a:latin typeface="Cambria" pitchFamily="34" charset="0"/>
                <a:ea typeface="Cambria" pitchFamily="34" charset="-122"/>
                <a:cs typeface="Cambria" pitchFamily="34" charset="-120"/>
              </a:rPr>
              <a:t>0.144–0.153</a:t>
            </a:r>
            <a:endParaRPr lang="en-US" sz="2600" dirty="0"/>
          </a:p>
        </p:txBody>
      </p:sp>
      <p:sp>
        <p:nvSpPr>
          <p:cNvPr id="10" name="Text 8"/>
          <p:cNvSpPr txBox="1"/>
          <p:nvPr/>
        </p:nvSpPr>
        <p:spPr>
          <a:xfrm>
            <a:off x="4526280" y="2706624"/>
            <a:ext cx="3154680" cy="555955"/>
          </a:xfrm>
          <a:prstGeom prst="rect">
            <a:avLst/>
          </a:prstGeom>
          <a:noFill/>
          <a:ln/>
        </p:spPr>
        <p:txBody>
          <a:bodyPr wrap="square" lIns="0" tIns="0" rIns="0" bIns="0" rtlCol="0" anchor="ctr"/>
          <a:lstStyle/>
          <a:p>
            <a:pPr algn="l" indent="0" marL="0">
              <a:buNone/>
            </a:pPr>
            <a:r>
              <a:rPr lang="en-US" sz="1150" dirty="0">
                <a:solidFill>
                  <a:srgbClr val="5B6472"/>
                </a:solidFill>
                <a:latin typeface="Calibri" pitchFamily="34" charset="0"/>
                <a:ea typeface="Calibri" pitchFamily="34" charset="-122"/>
                <a:cs typeface="Calibri" pitchFamily="34" charset="-120"/>
              </a:rPr>
              <a:t>Range across shipping type &amp; delivery time</a:t>
            </a:r>
            <a:endParaRPr lang="en-US" sz="1150" dirty="0"/>
          </a:p>
        </p:txBody>
      </p:sp>
      <p:sp>
        <p:nvSpPr>
          <p:cNvPr id="11" name="Shape 9"/>
          <p:cNvSpPr/>
          <p:nvPr/>
        </p:nvSpPr>
        <p:spPr>
          <a:xfrm>
            <a:off x="8138160" y="1828800"/>
            <a:ext cx="3429000" cy="1463040"/>
          </a:xfrm>
          <a:prstGeom prst="roundRect">
            <a:avLst>
              <a:gd name="adj" fmla="val 5000"/>
            </a:avLst>
          </a:prstGeom>
          <a:solidFill>
            <a:srgbClr val="F5F7FA"/>
          </a:solidFill>
          <a:ln w="9525">
            <a:solidFill>
              <a:srgbClr val="D8DEE7"/>
            </a:solidFill>
            <a:prstDash val="solid"/>
          </a:ln>
        </p:spPr>
      </p:sp>
      <p:sp>
        <p:nvSpPr>
          <p:cNvPr id="12" name="Text 10"/>
          <p:cNvSpPr txBox="1"/>
          <p:nvPr/>
        </p:nvSpPr>
        <p:spPr>
          <a:xfrm>
            <a:off x="8275320" y="1938528"/>
            <a:ext cx="3154680" cy="804672"/>
          </a:xfrm>
          <a:prstGeom prst="rect">
            <a:avLst/>
          </a:prstGeom>
          <a:noFill/>
          <a:ln/>
        </p:spPr>
        <p:txBody>
          <a:bodyPr wrap="square" lIns="0" tIns="0" rIns="0" bIns="0" rtlCol="0" anchor="ctr"/>
          <a:lstStyle/>
          <a:p>
            <a:pPr algn="l" indent="0" marL="0">
              <a:buNone/>
            </a:pPr>
            <a:r>
              <a:rPr lang="en-US" sz="2600" b="1" dirty="0">
                <a:solidFill>
                  <a:srgbClr val="2C3E50"/>
                </a:solidFill>
                <a:latin typeface="Cambria" pitchFamily="34" charset="0"/>
                <a:ea typeface="Cambria" pitchFamily="34" charset="-122"/>
                <a:cs typeface="Cambria" pitchFamily="34" charset="-120"/>
              </a:rPr>
              <a:t>p = 0.82</a:t>
            </a:r>
            <a:endParaRPr lang="en-US" sz="2600" dirty="0"/>
          </a:p>
        </p:txBody>
      </p:sp>
      <p:sp>
        <p:nvSpPr>
          <p:cNvPr id="13" name="Text 11"/>
          <p:cNvSpPr txBox="1"/>
          <p:nvPr/>
        </p:nvSpPr>
        <p:spPr>
          <a:xfrm>
            <a:off x="8275320" y="2706624"/>
            <a:ext cx="3154680" cy="555955"/>
          </a:xfrm>
          <a:prstGeom prst="rect">
            <a:avLst/>
          </a:prstGeom>
          <a:noFill/>
          <a:ln/>
        </p:spPr>
        <p:txBody>
          <a:bodyPr wrap="square" lIns="0" tIns="0" rIns="0" bIns="0" rtlCol="0" anchor="ctr"/>
          <a:lstStyle/>
          <a:p>
            <a:pPr algn="l" indent="0" marL="0">
              <a:buNone/>
            </a:pPr>
            <a:r>
              <a:rPr lang="en-US" sz="1150" dirty="0">
                <a:solidFill>
                  <a:srgbClr val="5B6472"/>
                </a:solidFill>
                <a:latin typeface="Calibri" pitchFamily="34" charset="0"/>
                <a:ea typeface="Calibri" pitchFamily="34" charset="-122"/>
                <a:cs typeface="Calibri" pitchFamily="34" charset="-120"/>
              </a:rPr>
              <a:t>Chi-square test: not statistically significant</a:t>
            </a:r>
            <a:endParaRPr lang="en-US" sz="1150" dirty="0"/>
          </a:p>
        </p:txBody>
      </p:sp>
      <p:sp>
        <p:nvSpPr>
          <p:cNvPr id="14" name="Shape 12"/>
          <p:cNvSpPr/>
          <p:nvPr/>
        </p:nvSpPr>
        <p:spPr>
          <a:xfrm>
            <a:off x="640080" y="3611880"/>
            <a:ext cx="10607040" cy="2331720"/>
          </a:xfrm>
          <a:prstGeom prst="roundRect">
            <a:avLst>
              <a:gd name="adj" fmla="val 3137"/>
            </a:avLst>
          </a:prstGeom>
          <a:solidFill>
            <a:srgbClr val="EAF3EE"/>
          </a:solidFill>
          <a:ln w="9525">
            <a:solidFill>
              <a:srgbClr val="BFE0CC"/>
            </a:solidFill>
            <a:prstDash val="solid"/>
          </a:ln>
        </p:spPr>
      </p:sp>
      <p:sp>
        <p:nvSpPr>
          <p:cNvPr id="15" name="Text 13"/>
          <p:cNvSpPr txBox="1"/>
          <p:nvPr/>
        </p:nvSpPr>
        <p:spPr>
          <a:xfrm>
            <a:off x="868680" y="3794760"/>
            <a:ext cx="1371600" cy="320040"/>
          </a:xfrm>
          <a:prstGeom prst="rect">
            <a:avLst/>
          </a:prstGeom>
          <a:noFill/>
          <a:ln/>
        </p:spPr>
        <p:txBody>
          <a:bodyPr wrap="square" lIns="0" tIns="0" rIns="0" bIns="0" rtlCol="0" anchor="ctr"/>
          <a:lstStyle/>
          <a:p>
            <a:pPr indent="0" marL="0">
              <a:buNone/>
            </a:pPr>
            <a:r>
              <a:rPr lang="en-US" sz="1250" b="1" dirty="0">
                <a:solidFill>
                  <a:srgbClr val="3E7C59"/>
                </a:solidFill>
                <a:latin typeface="Calibri" pitchFamily="34" charset="0"/>
                <a:ea typeface="Calibri" pitchFamily="34" charset="-122"/>
                <a:cs typeface="Calibri" pitchFamily="34" charset="-120"/>
              </a:rPr>
              <a:t>Finding:</a:t>
            </a:r>
            <a:endParaRPr lang="en-US" sz="1250" dirty="0"/>
          </a:p>
        </p:txBody>
      </p:sp>
      <p:sp>
        <p:nvSpPr>
          <p:cNvPr id="16" name="Text 14"/>
          <p:cNvSpPr txBox="1"/>
          <p:nvPr/>
        </p:nvSpPr>
        <p:spPr>
          <a:xfrm>
            <a:off x="868680" y="4160520"/>
            <a:ext cx="10149840" cy="1737360"/>
          </a:xfrm>
          <a:prstGeom prst="rect">
            <a:avLst/>
          </a:prstGeom>
          <a:noFill/>
          <a:ln/>
        </p:spPr>
        <p:txBody>
          <a:bodyPr wrap="square" lIns="0" tIns="0" rIns="0" bIns="0" rtlCol="0" anchor="ctr"/>
          <a:lstStyle/>
          <a:p>
            <a:pPr indent="0" marL="0">
              <a:lnSpc>
                <a:spcPct val="125000"/>
              </a:lnSpc>
              <a:buNone/>
            </a:pPr>
            <a:r>
              <a:rPr lang="en-US" sz="1200" dirty="0">
                <a:solidFill>
                  <a:srgbClr val="1B2430"/>
                </a:solidFill>
                <a:latin typeface="Calibri" pitchFamily="34" charset="0"/>
                <a:ea typeface="Calibri" pitchFamily="34" charset="-122"/>
                <a:cs typeface="Calibri" pitchFamily="34" charset="-120"/>
              </a:rPr>
              <a:t>Return rate stays within a tight 14.4%–15.3% band across every shipping type and delivery-day bucket, and a Chi-square test of independence confirms this: with a p-value of 0.82 (well above 0.05), there is no statistically significant relationship between shipping type, delivery speed, and returns.</a:t>
            </a:r>
            <a:endParaRPr lang="en-US" sz="1200" dirty="0"/>
          </a:p>
          <a:p>
            <a:pPr indent="0" marL="0">
              <a:lnSpc>
                <a:spcPct val="125000"/>
              </a:lnSpc>
              <a:buNone/>
            </a:pPr>
            <a:endParaRPr lang="en-US" sz="1200" dirty="0"/>
          </a:p>
          <a:p>
            <a:pPr indent="0" marL="0">
              <a:lnSpc>
                <a:spcPct val="125000"/>
              </a:lnSpc>
              <a:buNone/>
            </a:pPr>
            <a:r>
              <a:rPr lang="en-US" sz="1200" dirty="0">
                <a:solidFill>
                  <a:srgbClr val="1B2430"/>
                </a:solidFill>
                <a:latin typeface="Calibri" pitchFamily="34" charset="0"/>
                <a:ea typeface="Calibri" pitchFamily="34" charset="-122"/>
                <a:cs typeface="Calibri" pitchFamily="34" charset="-120"/>
              </a:rPr>
              <a:t>This is good operational news — logistics is not the cause of returns. It also means fixing delivery speed alone will not reduce the return rate; the root cause more likely lies in product fit, quality, or expectation-setting (as suggested by Fashion's elevated rate on the previous slide).</a:t>
            </a:r>
            <a:endParaRPr lang="en-US" sz="1200" dirty="0"/>
          </a:p>
        </p:txBody>
      </p:sp>
      <p:sp>
        <p:nvSpPr>
          <p:cNvPr id="17" name="Text 15"/>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18" name="Text 16"/>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097280" cy="320040"/>
          </a:xfrm>
          <a:prstGeom prst="roundRect">
            <a:avLst>
              <a:gd name="adj" fmla="val 22857"/>
            </a:avLst>
          </a:prstGeom>
          <a:solidFill>
            <a:srgbClr val="3E7C59"/>
          </a:solidFill>
          <a:ln/>
        </p:spPr>
      </p:sp>
      <p:sp>
        <p:nvSpPr>
          <p:cNvPr id="3" name="Text 1"/>
          <p:cNvSpPr txBox="1"/>
          <p:nvPr/>
        </p:nvSpPr>
        <p:spPr>
          <a:xfrm>
            <a:off x="640080" y="502920"/>
            <a:ext cx="109728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INSIGHT</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What's working well</a:t>
            </a:r>
            <a:endParaRPr lang="en-US" sz="2800" dirty="0"/>
          </a:p>
        </p:txBody>
      </p:sp>
      <p:sp>
        <p:nvSpPr>
          <p:cNvPr id="5" name="Shape 3"/>
          <p:cNvSpPr/>
          <p:nvPr/>
        </p:nvSpPr>
        <p:spPr>
          <a:xfrm>
            <a:off x="640080" y="1783080"/>
            <a:ext cx="5120640" cy="1737360"/>
          </a:xfrm>
          <a:prstGeom prst="roundRect">
            <a:avLst>
              <a:gd name="adj" fmla="val 4211"/>
            </a:avLst>
          </a:prstGeom>
          <a:solidFill>
            <a:srgbClr val="EAF3EE"/>
          </a:solidFill>
          <a:ln w="9525">
            <a:solidFill>
              <a:srgbClr val="BFE0CC"/>
            </a:solidFill>
            <a:prstDash val="solid"/>
          </a:ln>
        </p:spPr>
      </p:sp>
      <p:sp>
        <p:nvSpPr>
          <p:cNvPr id="6" name="Shape 4"/>
          <p:cNvSpPr/>
          <p:nvPr/>
        </p:nvSpPr>
        <p:spPr>
          <a:xfrm>
            <a:off x="868680" y="2011680"/>
            <a:ext cx="320040" cy="320040"/>
          </a:xfrm>
          <a:prstGeom prst="ellipse">
            <a:avLst/>
          </a:prstGeom>
          <a:solidFill>
            <a:srgbClr val="3E7C59"/>
          </a:solidFill>
          <a:ln/>
        </p:spPr>
      </p:sp>
      <p:sp>
        <p:nvSpPr>
          <p:cNvPr id="7" name="Text 5"/>
          <p:cNvSpPr txBox="1"/>
          <p:nvPr/>
        </p:nvSpPr>
        <p:spPr>
          <a:xfrm>
            <a:off x="868680" y="201168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txBox="1"/>
          <p:nvPr/>
        </p:nvSpPr>
        <p:spPr>
          <a:xfrm>
            <a:off x="1325880" y="1965960"/>
            <a:ext cx="4206240"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Clean, reliable data</a:t>
            </a:r>
            <a:endParaRPr lang="en-US" sz="1400" dirty="0"/>
          </a:p>
        </p:txBody>
      </p:sp>
      <p:sp>
        <p:nvSpPr>
          <p:cNvPr id="9" name="Text 7"/>
          <p:cNvSpPr txBox="1"/>
          <p:nvPr/>
        </p:nvSpPr>
        <p:spPr>
          <a:xfrm>
            <a:off x="1325880" y="2350008"/>
            <a:ext cx="4206240" cy="1051560"/>
          </a:xfrm>
          <a:prstGeom prst="rect">
            <a:avLst/>
          </a:prstGeom>
          <a:noFill/>
          <a:ln/>
        </p:spPr>
        <p:txBody>
          <a:bodyPr wrap="square" lIns="0" tIns="0" rIns="0" bIns="0" rtlCol="0" anchor="ctr"/>
          <a:lstStyle/>
          <a:p>
            <a:pPr indent="0" marL="0">
              <a:lnSpc>
                <a:spcPct val="120000"/>
              </a:lnSpc>
              <a:buNone/>
            </a:pPr>
            <a:r>
              <a:rPr lang="en-US" sz="1100" dirty="0">
                <a:solidFill>
                  <a:srgbClr val="1B2430"/>
                </a:solidFill>
                <a:latin typeface="Calibri" pitchFamily="34" charset="0"/>
                <a:ea typeface="Calibri" pitchFamily="34" charset="-122"/>
                <a:cs typeface="Calibri" pitchFamily="34" charset="-120"/>
              </a:rPr>
              <a:t>100% complete records across all 18 columns — analysis and future reporting can be trusted without heavy cleanup.</a:t>
            </a:r>
            <a:endParaRPr lang="en-US" sz="1100" dirty="0"/>
          </a:p>
        </p:txBody>
      </p:sp>
      <p:sp>
        <p:nvSpPr>
          <p:cNvPr id="10" name="Shape 8"/>
          <p:cNvSpPr/>
          <p:nvPr/>
        </p:nvSpPr>
        <p:spPr>
          <a:xfrm>
            <a:off x="6126480" y="1783080"/>
            <a:ext cx="5120640" cy="1737360"/>
          </a:xfrm>
          <a:prstGeom prst="roundRect">
            <a:avLst>
              <a:gd name="adj" fmla="val 4211"/>
            </a:avLst>
          </a:prstGeom>
          <a:solidFill>
            <a:srgbClr val="EAF3EE"/>
          </a:solidFill>
          <a:ln w="9525">
            <a:solidFill>
              <a:srgbClr val="BFE0CC"/>
            </a:solidFill>
            <a:prstDash val="solid"/>
          </a:ln>
        </p:spPr>
      </p:sp>
      <p:sp>
        <p:nvSpPr>
          <p:cNvPr id="11" name="Shape 9"/>
          <p:cNvSpPr/>
          <p:nvPr/>
        </p:nvSpPr>
        <p:spPr>
          <a:xfrm>
            <a:off x="6355080" y="2011680"/>
            <a:ext cx="320040" cy="320040"/>
          </a:xfrm>
          <a:prstGeom prst="ellipse">
            <a:avLst/>
          </a:prstGeom>
          <a:solidFill>
            <a:srgbClr val="3E7C59"/>
          </a:solidFill>
          <a:ln/>
        </p:spPr>
      </p:sp>
      <p:sp>
        <p:nvSpPr>
          <p:cNvPr id="12" name="Text 10"/>
          <p:cNvSpPr txBox="1"/>
          <p:nvPr/>
        </p:nvSpPr>
        <p:spPr>
          <a:xfrm>
            <a:off x="6355080" y="201168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6812280" y="1965960"/>
            <a:ext cx="4206240"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Diversified revenue</a:t>
            </a:r>
            <a:endParaRPr lang="en-US" sz="1400" dirty="0"/>
          </a:p>
        </p:txBody>
      </p:sp>
      <p:sp>
        <p:nvSpPr>
          <p:cNvPr id="14" name="Text 12"/>
          <p:cNvSpPr txBox="1"/>
          <p:nvPr/>
        </p:nvSpPr>
        <p:spPr>
          <a:xfrm>
            <a:off x="6812280" y="2350008"/>
            <a:ext cx="4206240" cy="1051560"/>
          </a:xfrm>
          <a:prstGeom prst="rect">
            <a:avLst/>
          </a:prstGeom>
          <a:noFill/>
          <a:ln/>
        </p:spPr>
        <p:txBody>
          <a:bodyPr wrap="square" lIns="0" tIns="0" rIns="0" bIns="0" rtlCol="0" anchor="ctr"/>
          <a:lstStyle/>
          <a:p>
            <a:pPr indent="0" marL="0">
              <a:lnSpc>
                <a:spcPct val="120000"/>
              </a:lnSpc>
              <a:buNone/>
            </a:pPr>
            <a:r>
              <a:rPr lang="en-US" sz="1100" dirty="0">
                <a:solidFill>
                  <a:srgbClr val="1B2430"/>
                </a:solidFill>
                <a:latin typeface="Calibri" pitchFamily="34" charset="0"/>
                <a:ea typeface="Calibri" pitchFamily="34" charset="-122"/>
                <a:cs typeface="Calibri" pitchFamily="34" charset="-120"/>
              </a:rPr>
              <a:t>No single category or city contributes more than ~1% above the average — the business isn't overexposed to any one segment.</a:t>
            </a:r>
            <a:endParaRPr lang="en-US" sz="1100" dirty="0"/>
          </a:p>
        </p:txBody>
      </p:sp>
      <p:sp>
        <p:nvSpPr>
          <p:cNvPr id="15" name="Shape 13"/>
          <p:cNvSpPr/>
          <p:nvPr/>
        </p:nvSpPr>
        <p:spPr>
          <a:xfrm>
            <a:off x="640080" y="3749040"/>
            <a:ext cx="5120640" cy="1737360"/>
          </a:xfrm>
          <a:prstGeom prst="roundRect">
            <a:avLst>
              <a:gd name="adj" fmla="val 4211"/>
            </a:avLst>
          </a:prstGeom>
          <a:solidFill>
            <a:srgbClr val="EAF3EE"/>
          </a:solidFill>
          <a:ln w="9525">
            <a:solidFill>
              <a:srgbClr val="BFE0CC"/>
            </a:solidFill>
            <a:prstDash val="solid"/>
          </a:ln>
        </p:spPr>
      </p:sp>
      <p:sp>
        <p:nvSpPr>
          <p:cNvPr id="16" name="Shape 14"/>
          <p:cNvSpPr/>
          <p:nvPr/>
        </p:nvSpPr>
        <p:spPr>
          <a:xfrm>
            <a:off x="868680" y="3977640"/>
            <a:ext cx="320040" cy="320040"/>
          </a:xfrm>
          <a:prstGeom prst="ellipse">
            <a:avLst/>
          </a:prstGeom>
          <a:solidFill>
            <a:srgbClr val="3E7C59"/>
          </a:solidFill>
          <a:ln/>
        </p:spPr>
      </p:sp>
      <p:sp>
        <p:nvSpPr>
          <p:cNvPr id="17" name="Text 15"/>
          <p:cNvSpPr txBox="1"/>
          <p:nvPr/>
        </p:nvSpPr>
        <p:spPr>
          <a:xfrm>
            <a:off x="868680" y="397764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1325880" y="3931920"/>
            <a:ext cx="4206240"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Predictable pricing logic</a:t>
            </a:r>
            <a:endParaRPr lang="en-US" sz="1400" dirty="0"/>
          </a:p>
        </p:txBody>
      </p:sp>
      <p:sp>
        <p:nvSpPr>
          <p:cNvPr id="19" name="Text 17"/>
          <p:cNvSpPr txBox="1"/>
          <p:nvPr/>
        </p:nvSpPr>
        <p:spPr>
          <a:xfrm>
            <a:off x="1325880" y="4315968"/>
            <a:ext cx="4206240" cy="1051560"/>
          </a:xfrm>
          <a:prstGeom prst="rect">
            <a:avLst/>
          </a:prstGeom>
          <a:noFill/>
          <a:ln/>
        </p:spPr>
        <p:txBody>
          <a:bodyPr wrap="square" lIns="0" tIns="0" rIns="0" bIns="0" rtlCol="0" anchor="ctr"/>
          <a:lstStyle/>
          <a:p>
            <a:pPr indent="0" marL="0">
              <a:lnSpc>
                <a:spcPct val="120000"/>
              </a:lnSpc>
              <a:buNone/>
            </a:pPr>
            <a:r>
              <a:rPr lang="en-US" sz="1100" dirty="0">
                <a:solidFill>
                  <a:srgbClr val="1B2430"/>
                </a:solidFill>
                <a:latin typeface="Calibri" pitchFamily="34" charset="0"/>
                <a:ea typeface="Calibri" pitchFamily="34" charset="-122"/>
                <a:cs typeface="Calibri" pitchFamily="34" charset="-120"/>
              </a:rPr>
              <a:t>final_price is strongly explained by product_price and quantity (r = 0.73 and 0.58) — pricing behaves rationally and predictably.</a:t>
            </a:r>
            <a:endParaRPr lang="en-US" sz="1100" dirty="0"/>
          </a:p>
        </p:txBody>
      </p:sp>
      <p:sp>
        <p:nvSpPr>
          <p:cNvPr id="20" name="Shape 18"/>
          <p:cNvSpPr/>
          <p:nvPr/>
        </p:nvSpPr>
        <p:spPr>
          <a:xfrm>
            <a:off x="6126480" y="3749040"/>
            <a:ext cx="5120640" cy="1737360"/>
          </a:xfrm>
          <a:prstGeom prst="roundRect">
            <a:avLst>
              <a:gd name="adj" fmla="val 4211"/>
            </a:avLst>
          </a:prstGeom>
          <a:solidFill>
            <a:srgbClr val="EAF3EE"/>
          </a:solidFill>
          <a:ln w="9525">
            <a:solidFill>
              <a:srgbClr val="BFE0CC"/>
            </a:solidFill>
            <a:prstDash val="solid"/>
          </a:ln>
        </p:spPr>
      </p:sp>
      <p:sp>
        <p:nvSpPr>
          <p:cNvPr id="21" name="Shape 19"/>
          <p:cNvSpPr/>
          <p:nvPr/>
        </p:nvSpPr>
        <p:spPr>
          <a:xfrm>
            <a:off x="6355080" y="3977640"/>
            <a:ext cx="320040" cy="320040"/>
          </a:xfrm>
          <a:prstGeom prst="ellipse">
            <a:avLst/>
          </a:prstGeom>
          <a:solidFill>
            <a:srgbClr val="3E7C59"/>
          </a:solidFill>
          <a:ln/>
        </p:spPr>
      </p:sp>
      <p:sp>
        <p:nvSpPr>
          <p:cNvPr id="22" name="Text 20"/>
          <p:cNvSpPr txBox="1"/>
          <p:nvPr/>
        </p:nvSpPr>
        <p:spPr>
          <a:xfrm>
            <a:off x="6355080" y="397764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txBox="1"/>
          <p:nvPr/>
        </p:nvSpPr>
        <p:spPr>
          <a:xfrm>
            <a:off x="6812280" y="3931920"/>
            <a:ext cx="4206240"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Stable operations</a:t>
            </a:r>
            <a:endParaRPr lang="en-US" sz="1400" dirty="0"/>
          </a:p>
        </p:txBody>
      </p:sp>
      <p:sp>
        <p:nvSpPr>
          <p:cNvPr id="24" name="Text 22"/>
          <p:cNvSpPr txBox="1"/>
          <p:nvPr/>
        </p:nvSpPr>
        <p:spPr>
          <a:xfrm>
            <a:off x="6812280" y="4315968"/>
            <a:ext cx="4206240" cy="1051560"/>
          </a:xfrm>
          <a:prstGeom prst="rect">
            <a:avLst/>
          </a:prstGeom>
          <a:noFill/>
          <a:ln/>
        </p:spPr>
        <p:txBody>
          <a:bodyPr wrap="square" lIns="0" tIns="0" rIns="0" bIns="0" rtlCol="0" anchor="ctr"/>
          <a:lstStyle/>
          <a:p>
            <a:pPr indent="0" marL="0">
              <a:lnSpc>
                <a:spcPct val="120000"/>
              </a:lnSpc>
              <a:buNone/>
            </a:pPr>
            <a:r>
              <a:rPr lang="en-US" sz="1100" dirty="0">
                <a:solidFill>
                  <a:srgbClr val="1B2430"/>
                </a:solidFill>
                <a:latin typeface="Calibri" pitchFamily="34" charset="0"/>
                <a:ea typeface="Calibri" pitchFamily="34" charset="-122"/>
                <a:cs typeface="Calibri" pitchFamily="34" charset="-120"/>
              </a:rPr>
              <a:t>Return rates are consistent across shipping types and delivery windows — logistics execution is not creating quality problems.</a:t>
            </a:r>
            <a:endParaRPr lang="en-US" sz="1100" dirty="0"/>
          </a:p>
        </p:txBody>
      </p:sp>
      <p:sp>
        <p:nvSpPr>
          <p:cNvPr id="25" name="Text 23"/>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26" name="Text 24"/>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828800" cy="320040"/>
          </a:xfrm>
          <a:prstGeom prst="roundRect">
            <a:avLst>
              <a:gd name="adj" fmla="val 22857"/>
            </a:avLst>
          </a:prstGeom>
          <a:solidFill>
            <a:srgbClr val="9C6B1F"/>
          </a:solidFill>
          <a:ln/>
        </p:spPr>
      </p:sp>
      <p:sp>
        <p:nvSpPr>
          <p:cNvPr id="3" name="Text 1"/>
          <p:cNvSpPr txBox="1"/>
          <p:nvPr/>
        </p:nvSpPr>
        <p:spPr>
          <a:xfrm>
            <a:off x="640080" y="502920"/>
            <a:ext cx="1828800" cy="3200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RECOMMENDATIONS</a:t>
            </a:r>
            <a:endParaRPr lang="en-US" sz="1100" dirty="0"/>
          </a:p>
        </p:txBody>
      </p:sp>
      <p:sp>
        <p:nvSpPr>
          <p:cNvPr id="4" name="Text 2"/>
          <p:cNvSpPr txBox="1"/>
          <p:nvPr/>
        </p:nvSpPr>
        <p:spPr>
          <a:xfrm>
            <a:off x="640080" y="914400"/>
            <a:ext cx="10607040" cy="64008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Where to focus for growth</a:t>
            </a:r>
            <a:endParaRPr lang="en-US" sz="2800" dirty="0"/>
          </a:p>
        </p:txBody>
      </p:sp>
      <p:sp>
        <p:nvSpPr>
          <p:cNvPr id="5" name="Shape 3"/>
          <p:cNvSpPr/>
          <p:nvPr/>
        </p:nvSpPr>
        <p:spPr>
          <a:xfrm>
            <a:off x="640080" y="1783080"/>
            <a:ext cx="5120640" cy="1737360"/>
          </a:xfrm>
          <a:prstGeom prst="roundRect">
            <a:avLst>
              <a:gd name="adj" fmla="val 4211"/>
            </a:avLst>
          </a:prstGeom>
          <a:solidFill>
            <a:srgbClr val="F5F7FA"/>
          </a:solidFill>
          <a:ln w="9525">
            <a:solidFill>
              <a:srgbClr val="D8DEE7"/>
            </a:solidFill>
            <a:prstDash val="solid"/>
          </a:ln>
        </p:spPr>
      </p:sp>
      <p:sp>
        <p:nvSpPr>
          <p:cNvPr id="6" name="Shape 4"/>
          <p:cNvSpPr/>
          <p:nvPr/>
        </p:nvSpPr>
        <p:spPr>
          <a:xfrm>
            <a:off x="868680" y="2011680"/>
            <a:ext cx="365760" cy="365760"/>
          </a:xfrm>
          <a:prstGeom prst="ellipse">
            <a:avLst/>
          </a:prstGeom>
          <a:solidFill>
            <a:srgbClr val="2C3E50"/>
          </a:solidFill>
          <a:ln/>
        </p:spPr>
      </p:sp>
      <p:sp>
        <p:nvSpPr>
          <p:cNvPr id="7" name="Text 5"/>
          <p:cNvSpPr txBox="1"/>
          <p:nvPr/>
        </p:nvSpPr>
        <p:spPr>
          <a:xfrm>
            <a:off x="868680" y="20116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371600" y="1965960"/>
            <a:ext cx="4160520" cy="45720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Investigate the ~15% return rate</a:t>
            </a:r>
            <a:endParaRPr lang="en-US" sz="1350" dirty="0"/>
          </a:p>
        </p:txBody>
      </p:sp>
      <p:sp>
        <p:nvSpPr>
          <p:cNvPr id="9" name="Text 7"/>
          <p:cNvSpPr txBox="1"/>
          <p:nvPr/>
        </p:nvSpPr>
        <p:spPr>
          <a:xfrm>
            <a:off x="1371600" y="2404872"/>
            <a:ext cx="4160520" cy="1005840"/>
          </a:xfrm>
          <a:prstGeom prst="rect">
            <a:avLst/>
          </a:prstGeom>
          <a:noFill/>
          <a:ln/>
        </p:spPr>
        <p:txBody>
          <a:bodyPr wrap="square" lIns="0" tIns="0" rIns="0" bIns="0" rtlCol="0" anchor="ctr"/>
          <a:lstStyle/>
          <a:p>
            <a:pPr indent="0" marL="0">
              <a:lnSpc>
                <a:spcPct val="120000"/>
              </a:lnSpc>
              <a:buNone/>
            </a:pPr>
            <a:r>
              <a:rPr lang="en-US" sz="1080" dirty="0">
                <a:solidFill>
                  <a:srgbClr val="5B6472"/>
                </a:solidFill>
                <a:latin typeface="Calibri" pitchFamily="34" charset="0"/>
                <a:ea typeface="Calibri" pitchFamily="34" charset="-122"/>
                <a:cs typeface="Calibri" pitchFamily="34" charset="-120"/>
              </a:rPr>
              <a:t>Since logistics isn't the cause, run root-cause analysis on product fit/quality — starting with Fashion, which has the highest return rate.</a:t>
            </a:r>
            <a:endParaRPr lang="en-US" sz="1080" dirty="0"/>
          </a:p>
        </p:txBody>
      </p:sp>
      <p:sp>
        <p:nvSpPr>
          <p:cNvPr id="10" name="Shape 8"/>
          <p:cNvSpPr/>
          <p:nvPr/>
        </p:nvSpPr>
        <p:spPr>
          <a:xfrm>
            <a:off x="6126480" y="1783080"/>
            <a:ext cx="5120640" cy="1737360"/>
          </a:xfrm>
          <a:prstGeom prst="roundRect">
            <a:avLst>
              <a:gd name="adj" fmla="val 4211"/>
            </a:avLst>
          </a:prstGeom>
          <a:solidFill>
            <a:srgbClr val="F5F7FA"/>
          </a:solidFill>
          <a:ln w="9525">
            <a:solidFill>
              <a:srgbClr val="D8DEE7"/>
            </a:solidFill>
            <a:prstDash val="solid"/>
          </a:ln>
        </p:spPr>
      </p:sp>
      <p:sp>
        <p:nvSpPr>
          <p:cNvPr id="11" name="Shape 9"/>
          <p:cNvSpPr/>
          <p:nvPr/>
        </p:nvSpPr>
        <p:spPr>
          <a:xfrm>
            <a:off x="6355080" y="2011680"/>
            <a:ext cx="365760" cy="365760"/>
          </a:xfrm>
          <a:prstGeom prst="ellipse">
            <a:avLst/>
          </a:prstGeom>
          <a:solidFill>
            <a:srgbClr val="2C3E50"/>
          </a:solidFill>
          <a:ln/>
        </p:spPr>
      </p:sp>
      <p:sp>
        <p:nvSpPr>
          <p:cNvPr id="12" name="Text 10"/>
          <p:cNvSpPr txBox="1"/>
          <p:nvPr/>
        </p:nvSpPr>
        <p:spPr>
          <a:xfrm>
            <a:off x="6355080" y="20116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6858000" y="1965960"/>
            <a:ext cx="4160520" cy="45720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Strengthen the Premium tier</a:t>
            </a:r>
            <a:endParaRPr lang="en-US" sz="1350" dirty="0"/>
          </a:p>
        </p:txBody>
      </p:sp>
      <p:sp>
        <p:nvSpPr>
          <p:cNvPr id="14" name="Text 12"/>
          <p:cNvSpPr txBox="1"/>
          <p:nvPr/>
        </p:nvSpPr>
        <p:spPr>
          <a:xfrm>
            <a:off x="6858000" y="2404872"/>
            <a:ext cx="4160520" cy="1005840"/>
          </a:xfrm>
          <a:prstGeom prst="rect">
            <a:avLst/>
          </a:prstGeom>
          <a:noFill/>
          <a:ln/>
        </p:spPr>
        <p:txBody>
          <a:bodyPr wrap="square" lIns="0" tIns="0" rIns="0" bIns="0" rtlCol="0" anchor="ctr"/>
          <a:lstStyle/>
          <a:p>
            <a:pPr indent="0" marL="0">
              <a:lnSpc>
                <a:spcPct val="120000"/>
              </a:lnSpc>
              <a:buNone/>
            </a:pPr>
            <a:r>
              <a:rPr lang="en-US" sz="1080" dirty="0">
                <a:solidFill>
                  <a:srgbClr val="5B6472"/>
                </a:solidFill>
                <a:latin typeface="Calibri" pitchFamily="34" charset="0"/>
                <a:ea typeface="Calibri" pitchFamily="34" charset="-122"/>
                <a:cs typeface="Calibri" pitchFamily="34" charset="-120"/>
              </a:rPr>
              <a:t>Premium customers spend almost the same as New customers. Redesign loyalty perks (early access, bundles, free shipping) to justify and grow the tier.</a:t>
            </a:r>
            <a:endParaRPr lang="en-US" sz="1080" dirty="0"/>
          </a:p>
        </p:txBody>
      </p:sp>
      <p:sp>
        <p:nvSpPr>
          <p:cNvPr id="15" name="Shape 13"/>
          <p:cNvSpPr/>
          <p:nvPr/>
        </p:nvSpPr>
        <p:spPr>
          <a:xfrm>
            <a:off x="640080" y="3749040"/>
            <a:ext cx="5120640" cy="1737360"/>
          </a:xfrm>
          <a:prstGeom prst="roundRect">
            <a:avLst>
              <a:gd name="adj" fmla="val 4211"/>
            </a:avLst>
          </a:prstGeom>
          <a:solidFill>
            <a:srgbClr val="F5F7FA"/>
          </a:solidFill>
          <a:ln w="9525">
            <a:solidFill>
              <a:srgbClr val="D8DEE7"/>
            </a:solidFill>
            <a:prstDash val="solid"/>
          </a:ln>
        </p:spPr>
      </p:sp>
      <p:sp>
        <p:nvSpPr>
          <p:cNvPr id="16" name="Shape 14"/>
          <p:cNvSpPr/>
          <p:nvPr/>
        </p:nvSpPr>
        <p:spPr>
          <a:xfrm>
            <a:off x="868680" y="3977640"/>
            <a:ext cx="365760" cy="365760"/>
          </a:xfrm>
          <a:prstGeom prst="ellipse">
            <a:avLst/>
          </a:prstGeom>
          <a:solidFill>
            <a:srgbClr val="2C3E50"/>
          </a:solidFill>
          <a:ln/>
        </p:spPr>
      </p:sp>
      <p:sp>
        <p:nvSpPr>
          <p:cNvPr id="17" name="Text 15"/>
          <p:cNvSpPr txBox="1"/>
          <p:nvPr/>
        </p:nvSpPr>
        <p:spPr>
          <a:xfrm>
            <a:off x="868680" y="39776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371600" y="3931920"/>
            <a:ext cx="4160520" cy="45720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Rethink blanket discounting</a:t>
            </a:r>
            <a:endParaRPr lang="en-US" sz="1350" dirty="0"/>
          </a:p>
        </p:txBody>
      </p:sp>
      <p:sp>
        <p:nvSpPr>
          <p:cNvPr id="19" name="Text 17"/>
          <p:cNvSpPr txBox="1"/>
          <p:nvPr/>
        </p:nvSpPr>
        <p:spPr>
          <a:xfrm>
            <a:off x="1371600" y="4370832"/>
            <a:ext cx="4160520" cy="1005840"/>
          </a:xfrm>
          <a:prstGeom prst="rect">
            <a:avLst/>
          </a:prstGeom>
          <a:noFill/>
          <a:ln/>
        </p:spPr>
        <p:txBody>
          <a:bodyPr wrap="square" lIns="0" tIns="0" rIns="0" bIns="0" rtlCol="0" anchor="ctr"/>
          <a:lstStyle/>
          <a:p>
            <a:pPr indent="0" marL="0">
              <a:lnSpc>
                <a:spcPct val="120000"/>
              </a:lnSpc>
              <a:buNone/>
            </a:pPr>
            <a:r>
              <a:rPr lang="en-US" sz="1080" dirty="0">
                <a:solidFill>
                  <a:srgbClr val="5B6472"/>
                </a:solidFill>
                <a:latin typeface="Calibri" pitchFamily="34" charset="0"/>
                <a:ea typeface="Calibri" pitchFamily="34" charset="-122"/>
                <a:cs typeface="Calibri" pitchFamily="34" charset="-120"/>
              </a:rPr>
              <a:t>Discount % barely affects final price (r = -0.14) and doesn't lift quantity. Shift broad discounts toward targeted clearance or bundle offers instead.</a:t>
            </a:r>
            <a:endParaRPr lang="en-US" sz="1080" dirty="0"/>
          </a:p>
        </p:txBody>
      </p:sp>
      <p:sp>
        <p:nvSpPr>
          <p:cNvPr id="20" name="Shape 18"/>
          <p:cNvSpPr/>
          <p:nvPr/>
        </p:nvSpPr>
        <p:spPr>
          <a:xfrm>
            <a:off x="6126480" y="3749040"/>
            <a:ext cx="5120640" cy="1737360"/>
          </a:xfrm>
          <a:prstGeom prst="roundRect">
            <a:avLst>
              <a:gd name="adj" fmla="val 4211"/>
            </a:avLst>
          </a:prstGeom>
          <a:solidFill>
            <a:srgbClr val="F5F7FA"/>
          </a:solidFill>
          <a:ln w="9525">
            <a:solidFill>
              <a:srgbClr val="D8DEE7"/>
            </a:solidFill>
            <a:prstDash val="solid"/>
          </a:ln>
        </p:spPr>
      </p:sp>
      <p:sp>
        <p:nvSpPr>
          <p:cNvPr id="21" name="Shape 19"/>
          <p:cNvSpPr/>
          <p:nvPr/>
        </p:nvSpPr>
        <p:spPr>
          <a:xfrm>
            <a:off x="6355080" y="3977640"/>
            <a:ext cx="365760" cy="365760"/>
          </a:xfrm>
          <a:prstGeom prst="ellipse">
            <a:avLst/>
          </a:prstGeom>
          <a:solidFill>
            <a:srgbClr val="2C3E50"/>
          </a:solidFill>
          <a:ln/>
        </p:spPr>
      </p:sp>
      <p:sp>
        <p:nvSpPr>
          <p:cNvPr id="22" name="Text 20"/>
          <p:cNvSpPr txBox="1"/>
          <p:nvPr/>
        </p:nvSpPr>
        <p:spPr>
          <a:xfrm>
            <a:off x="6355080" y="39776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6858000" y="3931920"/>
            <a:ext cx="4160520" cy="45720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Expand data collection</a:t>
            </a:r>
            <a:endParaRPr lang="en-US" sz="1350" dirty="0"/>
          </a:p>
        </p:txBody>
      </p:sp>
      <p:sp>
        <p:nvSpPr>
          <p:cNvPr id="24" name="Text 22"/>
          <p:cNvSpPr txBox="1"/>
          <p:nvPr/>
        </p:nvSpPr>
        <p:spPr>
          <a:xfrm>
            <a:off x="6858000" y="4370832"/>
            <a:ext cx="4160520" cy="1005840"/>
          </a:xfrm>
          <a:prstGeom prst="rect">
            <a:avLst/>
          </a:prstGeom>
          <a:noFill/>
          <a:ln/>
        </p:spPr>
        <p:txBody>
          <a:bodyPr wrap="square" lIns="0" tIns="0" rIns="0" bIns="0" rtlCol="0" anchor="ctr"/>
          <a:lstStyle/>
          <a:p>
            <a:pPr indent="0" marL="0">
              <a:lnSpc>
                <a:spcPct val="120000"/>
              </a:lnSpc>
              <a:buNone/>
            </a:pPr>
            <a:r>
              <a:rPr lang="en-US" sz="1080" dirty="0">
                <a:solidFill>
                  <a:srgbClr val="5B6472"/>
                </a:solidFill>
                <a:latin typeface="Calibri" pitchFamily="34" charset="0"/>
                <a:ea typeface="Calibri" pitchFamily="34" charset="-122"/>
                <a:cs typeface="Calibri" pitchFamily="34" charset="-120"/>
              </a:rPr>
              <a:t>Add product reviews, size/fit feedback and satisfaction scores — current fields explain returns poorly, so richer data is needed for deeper root-cause work.</a:t>
            </a:r>
            <a:endParaRPr lang="en-US" sz="1080" dirty="0"/>
          </a:p>
        </p:txBody>
      </p:sp>
      <p:sp>
        <p:nvSpPr>
          <p:cNvPr id="25" name="Text 23"/>
          <p:cNvSpPr txBox="1"/>
          <p:nvPr/>
        </p:nvSpPr>
        <p:spPr>
          <a:xfrm>
            <a:off x="457200" y="6492240"/>
            <a:ext cx="36576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Nexthike IT Solution</a:t>
            </a:r>
            <a:endParaRPr lang="en-US" sz="900" dirty="0"/>
          </a:p>
        </p:txBody>
      </p:sp>
      <p:sp>
        <p:nvSpPr>
          <p:cNvPr id="26" name="Text 24"/>
          <p:cNvSpPr txBox="1"/>
          <p:nvPr/>
        </p:nvSpPr>
        <p:spPr>
          <a:xfrm>
            <a:off x="11247120" y="6492240"/>
            <a:ext cx="82296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524"/>
        </a:solidFill>
      </p:bgPr>
    </p:bg>
    <p:spTree>
      <p:nvGrpSpPr>
        <p:cNvPr id="1" name=""/>
        <p:cNvGrpSpPr/>
        <p:nvPr/>
      </p:nvGrpSpPr>
      <p:grpSpPr>
        <a:xfrm>
          <a:off x="0" y="0"/>
          <a:ext cx="0" cy="0"/>
          <a:chOff x="0" y="0"/>
          <a:chExt cx="0" cy="0"/>
        </a:xfrm>
      </p:grpSpPr>
      <p:sp>
        <p:nvSpPr>
          <p:cNvPr id="2" name="Text 0"/>
          <p:cNvSpPr txBox="1"/>
          <p:nvPr/>
        </p:nvSpPr>
        <p:spPr>
          <a:xfrm>
            <a:off x="0" y="1371600"/>
            <a:ext cx="12188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0" y="2148840"/>
            <a:ext cx="12188952" cy="457200"/>
          </a:xfrm>
          <a:prstGeom prst="rect">
            <a:avLst/>
          </a:prstGeom>
          <a:noFill/>
          <a:ln/>
        </p:spPr>
        <p:txBody>
          <a:bodyPr wrap="square" lIns="0" tIns="0" rIns="0" bIns="0" rtlCol="0" anchor="ctr"/>
          <a:lstStyle/>
          <a:p>
            <a:pPr algn="ctr" indent="0" marL="0">
              <a:buNone/>
            </a:pPr>
            <a:r>
              <a:rPr lang="en-US" sz="1700" dirty="0">
                <a:solidFill>
                  <a:srgbClr val="3AA0FF"/>
                </a:solidFill>
                <a:latin typeface="Calibri" pitchFamily="34" charset="0"/>
                <a:ea typeface="Calibri" pitchFamily="34" charset="-122"/>
                <a:cs typeface="Calibri" pitchFamily="34" charset="-120"/>
              </a:rPr>
              <a:t>Retail Transaction Data — Exploratory Data Analysis</a:t>
            </a:r>
            <a:endParaRPr lang="en-US" sz="1700" dirty="0"/>
          </a:p>
        </p:txBody>
      </p:sp>
      <p:sp>
        <p:nvSpPr>
          <p:cNvPr id="4" name="Shape 2"/>
          <p:cNvSpPr/>
          <p:nvPr/>
        </p:nvSpPr>
        <p:spPr>
          <a:xfrm>
            <a:off x="2528316" y="3451860"/>
            <a:ext cx="1859280" cy="0"/>
          </a:xfrm>
          <a:prstGeom prst="line">
            <a:avLst/>
          </a:prstGeom>
          <a:noFill/>
          <a:ln w="25400">
            <a:solidFill>
              <a:srgbClr val="2A344A"/>
            </a:solidFill>
            <a:prstDash val="solid"/>
          </a:ln>
        </p:spPr>
      </p:sp>
      <p:sp>
        <p:nvSpPr>
          <p:cNvPr id="5" name="Shape 3"/>
          <p:cNvSpPr/>
          <p:nvPr/>
        </p:nvSpPr>
        <p:spPr>
          <a:xfrm>
            <a:off x="1751076" y="3063240"/>
            <a:ext cx="777240" cy="777240"/>
          </a:xfrm>
          <a:prstGeom prst="ellipse">
            <a:avLst/>
          </a:prstGeom>
          <a:solidFill>
            <a:srgbClr val="89A9C4"/>
          </a:solidFill>
          <a:ln/>
        </p:spPr>
      </p:sp>
      <p:sp>
        <p:nvSpPr>
          <p:cNvPr id="6" name="Text 4"/>
          <p:cNvSpPr txBox="1"/>
          <p:nvPr/>
        </p:nvSpPr>
        <p:spPr>
          <a:xfrm>
            <a:off x="1751076" y="3063240"/>
            <a:ext cx="777240" cy="777240"/>
          </a:xfrm>
          <a:prstGeom prst="rect">
            <a:avLst/>
          </a:prstGeom>
          <a:noFill/>
          <a:ln/>
        </p:spPr>
        <p:txBody>
          <a:bodyPr wrap="square" lIns="0" tIns="0" rIns="0" bIns="0" rtlCol="0" anchor="ctr"/>
          <a:lstStyle/>
          <a:p>
            <a:pPr algn="ctr" indent="0" marL="0">
              <a:buNone/>
            </a:pPr>
            <a:r>
              <a:rPr lang="en-US" sz="2000" b="1" dirty="0">
                <a:solidFill>
                  <a:srgbClr val="0E1524"/>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385316" y="3977640"/>
            <a:ext cx="1508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Explore</a:t>
            </a:r>
            <a:endParaRPr lang="en-US" sz="1200" dirty="0"/>
          </a:p>
        </p:txBody>
      </p:sp>
      <p:sp>
        <p:nvSpPr>
          <p:cNvPr id="8" name="Shape 6"/>
          <p:cNvSpPr/>
          <p:nvPr/>
        </p:nvSpPr>
        <p:spPr>
          <a:xfrm>
            <a:off x="5164836" y="3451860"/>
            <a:ext cx="1859280" cy="0"/>
          </a:xfrm>
          <a:prstGeom prst="line">
            <a:avLst/>
          </a:prstGeom>
          <a:noFill/>
          <a:ln w="25400">
            <a:solidFill>
              <a:srgbClr val="2A344A"/>
            </a:solidFill>
            <a:prstDash val="solid"/>
          </a:ln>
        </p:spPr>
      </p:sp>
      <p:sp>
        <p:nvSpPr>
          <p:cNvPr id="9" name="Shape 7"/>
          <p:cNvSpPr/>
          <p:nvPr/>
        </p:nvSpPr>
        <p:spPr>
          <a:xfrm>
            <a:off x="4387596" y="3063240"/>
            <a:ext cx="777240" cy="777240"/>
          </a:xfrm>
          <a:prstGeom prst="ellipse">
            <a:avLst/>
          </a:prstGeom>
          <a:solidFill>
            <a:srgbClr val="3AA0FF"/>
          </a:solidFill>
          <a:ln/>
        </p:spPr>
      </p:sp>
      <p:sp>
        <p:nvSpPr>
          <p:cNvPr id="10" name="Text 8"/>
          <p:cNvSpPr txBox="1"/>
          <p:nvPr/>
        </p:nvSpPr>
        <p:spPr>
          <a:xfrm>
            <a:off x="4387596" y="3063240"/>
            <a:ext cx="777240" cy="777240"/>
          </a:xfrm>
          <a:prstGeom prst="rect">
            <a:avLst/>
          </a:prstGeom>
          <a:noFill/>
          <a:ln/>
        </p:spPr>
        <p:txBody>
          <a:bodyPr wrap="square" lIns="0" tIns="0" rIns="0" bIns="0" rtlCol="0" anchor="ctr"/>
          <a:lstStyle/>
          <a:p>
            <a:pPr algn="ctr" indent="0" marL="0">
              <a:buNone/>
            </a:pPr>
            <a:r>
              <a:rPr lang="en-US" sz="2000" b="1" dirty="0">
                <a:solidFill>
                  <a:srgbClr val="0E1524"/>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4021836" y="3977640"/>
            <a:ext cx="1508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Analyze</a:t>
            </a:r>
            <a:endParaRPr lang="en-US" sz="1200" dirty="0"/>
          </a:p>
        </p:txBody>
      </p:sp>
      <p:sp>
        <p:nvSpPr>
          <p:cNvPr id="12" name="Shape 10"/>
          <p:cNvSpPr/>
          <p:nvPr/>
        </p:nvSpPr>
        <p:spPr>
          <a:xfrm>
            <a:off x="7801356" y="3451860"/>
            <a:ext cx="1859280" cy="0"/>
          </a:xfrm>
          <a:prstGeom prst="line">
            <a:avLst/>
          </a:prstGeom>
          <a:noFill/>
          <a:ln w="25400">
            <a:solidFill>
              <a:srgbClr val="2A344A"/>
            </a:solidFill>
            <a:prstDash val="solid"/>
          </a:ln>
        </p:spPr>
      </p:sp>
      <p:sp>
        <p:nvSpPr>
          <p:cNvPr id="13" name="Shape 11"/>
          <p:cNvSpPr/>
          <p:nvPr/>
        </p:nvSpPr>
        <p:spPr>
          <a:xfrm>
            <a:off x="7024116" y="3063240"/>
            <a:ext cx="777240" cy="777240"/>
          </a:xfrm>
          <a:prstGeom prst="ellipse">
            <a:avLst/>
          </a:prstGeom>
          <a:solidFill>
            <a:srgbClr val="5D8AA8"/>
          </a:solidFill>
          <a:ln/>
        </p:spPr>
      </p:sp>
      <p:sp>
        <p:nvSpPr>
          <p:cNvPr id="14" name="Text 12"/>
          <p:cNvSpPr txBox="1"/>
          <p:nvPr/>
        </p:nvSpPr>
        <p:spPr>
          <a:xfrm>
            <a:off x="7024116" y="3063240"/>
            <a:ext cx="777240" cy="777240"/>
          </a:xfrm>
          <a:prstGeom prst="rect">
            <a:avLst/>
          </a:prstGeom>
          <a:noFill/>
          <a:ln/>
        </p:spPr>
        <p:txBody>
          <a:bodyPr wrap="square" lIns="0" tIns="0" rIns="0" bIns="0" rtlCol="0" anchor="ctr"/>
          <a:lstStyle/>
          <a:p>
            <a:pPr algn="ctr" indent="0" marL="0">
              <a:buNone/>
            </a:pPr>
            <a:r>
              <a:rPr lang="en-US" sz="2000" b="1" dirty="0">
                <a:solidFill>
                  <a:srgbClr val="0E1524"/>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6658356" y="3977640"/>
            <a:ext cx="1508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Correlate</a:t>
            </a:r>
            <a:endParaRPr lang="en-US" sz="1200" dirty="0"/>
          </a:p>
        </p:txBody>
      </p:sp>
      <p:sp>
        <p:nvSpPr>
          <p:cNvPr id="16" name="Shape 14"/>
          <p:cNvSpPr/>
          <p:nvPr/>
        </p:nvSpPr>
        <p:spPr>
          <a:xfrm>
            <a:off x="9660636" y="3063240"/>
            <a:ext cx="777240" cy="777240"/>
          </a:xfrm>
          <a:prstGeom prst="ellipse">
            <a:avLst/>
          </a:prstGeom>
          <a:solidFill>
            <a:srgbClr val="6FBF73"/>
          </a:solidFill>
          <a:ln/>
        </p:spPr>
      </p:sp>
      <p:sp>
        <p:nvSpPr>
          <p:cNvPr id="17" name="Text 15"/>
          <p:cNvSpPr txBox="1"/>
          <p:nvPr/>
        </p:nvSpPr>
        <p:spPr>
          <a:xfrm>
            <a:off x="9660636" y="3063240"/>
            <a:ext cx="777240" cy="777240"/>
          </a:xfrm>
          <a:prstGeom prst="rect">
            <a:avLst/>
          </a:prstGeom>
          <a:noFill/>
          <a:ln/>
        </p:spPr>
        <p:txBody>
          <a:bodyPr wrap="square" lIns="0" tIns="0" rIns="0" bIns="0" rtlCol="0" anchor="ctr"/>
          <a:lstStyle/>
          <a:p>
            <a:pPr algn="ctr" indent="0" marL="0">
              <a:buNone/>
            </a:pPr>
            <a:r>
              <a:rPr lang="en-US" sz="2000" b="1" dirty="0">
                <a:solidFill>
                  <a:srgbClr val="0E1524"/>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9294876" y="3977640"/>
            <a:ext cx="1508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Recommend</a:t>
            </a:r>
            <a:endParaRPr lang="en-US" sz="1200" dirty="0"/>
          </a:p>
        </p:txBody>
      </p:sp>
      <p:sp>
        <p:nvSpPr>
          <p:cNvPr id="19" name="Shape 17"/>
          <p:cNvSpPr/>
          <p:nvPr/>
        </p:nvSpPr>
        <p:spPr>
          <a:xfrm>
            <a:off x="3625596" y="4480560"/>
            <a:ext cx="4937760" cy="1051560"/>
          </a:xfrm>
          <a:prstGeom prst="roundRect">
            <a:avLst>
              <a:gd name="adj" fmla="val 8696"/>
            </a:avLst>
          </a:prstGeom>
          <a:solidFill>
            <a:srgbClr val="141C30"/>
          </a:solidFill>
          <a:ln w="12700">
            <a:solidFill>
              <a:srgbClr val="26314A"/>
            </a:solidFill>
            <a:prstDash val="solid"/>
          </a:ln>
        </p:spPr>
      </p:sp>
      <p:sp>
        <p:nvSpPr>
          <p:cNvPr id="20" name="Text 18"/>
          <p:cNvSpPr txBox="1"/>
          <p:nvPr/>
        </p:nvSpPr>
        <p:spPr>
          <a:xfrm>
            <a:off x="3625596" y="4645152"/>
            <a:ext cx="4937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Presented by  •  Farin Shaha</a:t>
            </a:r>
            <a:endParaRPr lang="en-US" sz="1500" dirty="0"/>
          </a:p>
        </p:txBody>
      </p:sp>
      <p:sp>
        <p:nvSpPr>
          <p:cNvPr id="21" name="Text 19"/>
          <p:cNvSpPr txBox="1"/>
          <p:nvPr/>
        </p:nvSpPr>
        <p:spPr>
          <a:xfrm>
            <a:off x="3625596" y="5029200"/>
            <a:ext cx="4937760" cy="320040"/>
          </a:xfrm>
          <a:prstGeom prst="rect">
            <a:avLst/>
          </a:prstGeom>
          <a:noFill/>
          <a:ln/>
        </p:spPr>
        <p:txBody>
          <a:bodyPr wrap="square" lIns="0" tIns="0" rIns="0" bIns="0" rtlCol="0" anchor="ctr"/>
          <a:lstStyle/>
          <a:p>
            <a:pPr algn="ctr" indent="0" marL="0">
              <a:buNone/>
            </a:pPr>
            <a:r>
              <a:rPr lang="en-US" sz="1200" dirty="0">
                <a:solidFill>
                  <a:srgbClr val="8290A8"/>
                </a:solidFill>
                <a:latin typeface="Calibri" pitchFamily="34" charset="0"/>
                <a:ea typeface="Calibri" pitchFamily="34" charset="-122"/>
                <a:cs typeface="Calibri" pitchFamily="34" charset="-120"/>
              </a:rPr>
              <a:t>Nexthike IT Solution</a:t>
            </a:r>
            <a:endParaRPr lang="en-US" sz="1200" dirty="0"/>
          </a:p>
        </p:txBody>
      </p:sp>
      <p:sp>
        <p:nvSpPr>
          <p:cNvPr id="22" name="Text 20"/>
          <p:cNvSpPr txBox="1"/>
          <p:nvPr/>
        </p:nvSpPr>
        <p:spPr>
          <a:xfrm>
            <a:off x="0" y="6126480"/>
            <a:ext cx="12188952" cy="320040"/>
          </a:xfrm>
          <a:prstGeom prst="rect">
            <a:avLst/>
          </a:prstGeom>
          <a:noFill/>
          <a:ln/>
        </p:spPr>
        <p:txBody>
          <a:bodyPr wrap="square" lIns="0" tIns="0" rIns="0" bIns="0" rtlCol="0" anchor="ctr"/>
          <a:lstStyle/>
          <a:p>
            <a:pPr algn="ctr" indent="0" marL="0">
              <a:buNone/>
            </a:pPr>
            <a:r>
              <a:rPr lang="en-US" sz="1100" dirty="0">
                <a:solidFill>
                  <a:srgbClr val="6C7A93"/>
                </a:solidFill>
                <a:latin typeface="Calibri" pitchFamily="34" charset="0"/>
                <a:ea typeface="Calibri" pitchFamily="34" charset="-122"/>
                <a:cs typeface="Calibri" pitchFamily="34" charset="-120"/>
              </a:rPr>
              <a:t>Python • Pandas • Seaborn • SciPy • Data Analytics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2026-09-20T17:44:00Z</dcterms:created>
  <dcterms:modified xsi:type="dcterms:W3CDTF">2026-09-20T17:44:00Z</dcterms:modified>
</cp:coreProperties>
</file>